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Roboto Slab"/>
      <p:regular r:id="rId21"/>
      <p:bold r:id="rId22"/>
    </p:embeddedFont>
    <p:embeddedFont>
      <p:font typeface="Poppins"/>
      <p:regular r:id="rId23"/>
      <p:bold r:id="rId24"/>
      <p:italic r:id="rId25"/>
      <p:boldItalic r:id="rId26"/>
    </p:embeddedFont>
    <p:embeddedFont>
      <p:font typeface="Roboto Mon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B2A4877-7E38-4EDB-9DB2-F2094D1E9D0F}">
  <a:tblStyle styleId="{CB2A4877-7E38-4EDB-9DB2-F2094D1E9D0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obotoSlab-bold.fntdata"/><Relationship Id="rId21" Type="http://schemas.openxmlformats.org/officeDocument/2006/relationships/font" Target="fonts/RobotoSlab-regular.fntdata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28" Type="http://schemas.openxmlformats.org/officeDocument/2006/relationships/font" Target="fonts/RobotoMono-bold.fntdata"/><Relationship Id="rId27" Type="http://schemas.openxmlformats.org/officeDocument/2006/relationships/font" Target="fonts/RobotoMon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on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RobotoMon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9402317c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9402317c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9402317c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9402317c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9402317cc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9402317c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82e8252f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f82e8252f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9402317c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9402317c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82e8252f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82e8252f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82e8252f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82e8252f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82e8252f3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f82e8252f3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82e8252f3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f82e8252f3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9402317cc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e9402317c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82e8252f3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82e8252f3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82e8252f3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f82e8252f3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800d105a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f800d105a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800d105a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f800d105a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2.png"/><Relationship Id="rId8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hyperlink" Target="https://developer.mozilla.org/en-US/docs/Learn_web_development/Extensions/Server-side/Express_Nodejs" TargetMode="External"/><Relationship Id="rId5" Type="http://schemas.openxmlformats.org/officeDocument/2006/relationships/hyperlink" Target="https://www.w3schools.com/nodejs/nodejs_express.asp" TargetMode="External"/><Relationship Id="rId6" Type="http://schemas.openxmlformats.org/officeDocument/2006/relationships/hyperlink" Target="https://expressjs.com/en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88763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5" name="Google Shape;55;p1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247500" y="2017650"/>
            <a:ext cx="474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III 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59" name="Google Shape;59;p1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13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accent2"/>
                  </a:solidFill>
                </a:rPr>
                <a:t>Sohna Road,Gurugram,Haryana 122103</a:t>
              </a:r>
              <a:endParaRPr sz="700">
                <a:solidFill>
                  <a:schemeClr val="accent2"/>
                </a:solidFill>
              </a:endParaRPr>
            </a:p>
          </p:txBody>
        </p:sp>
        <p:pic>
          <p:nvPicPr>
            <p:cNvPr id="62" name="Google Shape;62;p13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3" name="Google Shape;6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4" name="Google Shape;64;p13"/>
          <p:cNvGrpSpPr/>
          <p:nvPr/>
        </p:nvGrpSpPr>
        <p:grpSpPr>
          <a:xfrm>
            <a:off x="309849" y="1233369"/>
            <a:ext cx="3415942" cy="2387863"/>
            <a:chOff x="788865" y="1515488"/>
            <a:chExt cx="4594407" cy="2387863"/>
          </a:xfrm>
        </p:grpSpPr>
        <p:sp>
          <p:nvSpPr>
            <p:cNvPr id="65" name="Google Shape;65;p13"/>
            <p:cNvSpPr txBox="1"/>
            <p:nvPr/>
          </p:nvSpPr>
          <p:spPr>
            <a:xfrm>
              <a:off x="788865" y="1515488"/>
              <a:ext cx="31977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700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Lecture 17</a:t>
              </a:r>
              <a:r>
                <a:rPr lang="en" sz="2700">
                  <a:solidFill>
                    <a:schemeClr val="lt1"/>
                  </a:solidFill>
                </a:rPr>
                <a:t>:</a:t>
              </a:r>
              <a:endParaRPr sz="22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66" name="Google Shape;66;p13"/>
            <p:cNvSpPr txBox="1"/>
            <p:nvPr/>
          </p:nvSpPr>
          <p:spPr>
            <a:xfrm>
              <a:off x="788875" y="3475300"/>
              <a:ext cx="6990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-By</a:t>
              </a:r>
              <a:endPara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7" name="Google Shape;67;p13"/>
            <p:cNvSpPr txBox="1"/>
            <p:nvPr/>
          </p:nvSpPr>
          <p:spPr>
            <a:xfrm>
              <a:off x="790272" y="2145213"/>
              <a:ext cx="4593000" cy="118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2500">
                  <a:solidFill>
                    <a:schemeClr val="lt1"/>
                  </a:solidFill>
                </a:rPr>
                <a:t>Middleware Chaining</a:t>
              </a:r>
              <a:r>
                <a:rPr b="1" lang="en" sz="2600">
                  <a:solidFill>
                    <a:schemeClr val="lt1"/>
                  </a:solidFill>
                </a:rPr>
                <a:t> </a:t>
              </a:r>
              <a:endParaRPr b="1" sz="4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1" sz="3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8" name="Google Shape;68;p13"/>
            <p:cNvSpPr txBox="1"/>
            <p:nvPr/>
          </p:nvSpPr>
          <p:spPr>
            <a:xfrm>
              <a:off x="1330896" y="3491750"/>
              <a:ext cx="33132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Pratik Raj Verma</a:t>
              </a:r>
              <a:endPara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69" name="Google Shape;69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20125" y="3941879"/>
            <a:ext cx="548701" cy="376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96925" y="3941876"/>
            <a:ext cx="379415" cy="37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3" title="Programming-bro.png"/>
          <p:cNvPicPr preferRelativeResize="0"/>
          <p:nvPr/>
        </p:nvPicPr>
        <p:blipFill rotWithShape="1">
          <a:blip r:embed="rId9">
            <a:alphaModFix/>
          </a:blip>
          <a:srcRect b="0" l="7673" r="9194" t="12034"/>
          <a:stretch/>
        </p:blipFill>
        <p:spPr>
          <a:xfrm>
            <a:off x="5235463" y="2773850"/>
            <a:ext cx="2892375" cy="203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" name="Google Shape;77;p14"/>
          <p:cNvSpPr txBox="1"/>
          <p:nvPr>
            <p:ph idx="1" type="body"/>
          </p:nvPr>
        </p:nvSpPr>
        <p:spPr>
          <a:xfrm>
            <a:off x="311700" y="1234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Multiple Middleware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Middleware Chaining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Route-Level Middleware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References.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The End.</a:t>
            </a:r>
            <a:endParaRPr>
              <a:solidFill>
                <a:srgbClr val="273239"/>
              </a:solidFill>
            </a:endParaRPr>
          </a:p>
        </p:txBody>
      </p:sp>
      <p:pic>
        <p:nvPicPr>
          <p:cNvPr id="78" name="Google Shape;78;p1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5" name="Google Shape;85;p1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5"/>
          <p:cNvSpPr txBox="1"/>
          <p:nvPr/>
        </p:nvSpPr>
        <p:spPr>
          <a:xfrm>
            <a:off x="576075" y="210300"/>
            <a:ext cx="72237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Imagine you are entering an airport. Do you pass only one checkpoint?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You go through: Security Check , Ticket Verification, Luggage Scanning, Boarding Gate,   One checkpoint after another.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8" name="Google Shape;88;p15" title="Man thinking-ami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09025" y="1570275"/>
            <a:ext cx="3757800" cy="3023075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4" name="Google Shape;94;p1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16"/>
          <p:cNvSpPr txBox="1"/>
          <p:nvPr/>
        </p:nvSpPr>
        <p:spPr>
          <a:xfrm>
            <a:off x="576075" y="210300"/>
            <a:ext cx="72237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rgbClr val="073763"/>
                </a:solidFill>
              </a:rPr>
              <a:t>Can a request also pass through multiple middleware functions before reaching the controller?</a:t>
            </a:r>
            <a:endParaRPr b="1" sz="17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rgbClr val="073763"/>
                </a:solidFill>
              </a:rPr>
              <a:t>Yes </a:t>
            </a:r>
            <a:endParaRPr b="1" sz="17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rgbClr val="073763"/>
                </a:solidFill>
              </a:rPr>
              <a:t>This is called:  Middleware Chaining</a:t>
            </a:r>
            <a:endParaRPr b="1" sz="17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7" name="Google Shape;9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9913" y="1689600"/>
            <a:ext cx="4504176" cy="301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Middleware Chaining?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3" name="Google Shape;103;p1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17"/>
          <p:cNvSpPr txBox="1"/>
          <p:nvPr/>
        </p:nvSpPr>
        <p:spPr>
          <a:xfrm>
            <a:off x="648400" y="862600"/>
            <a:ext cx="5679000" cy="12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Middleware Chaining is the process of executing multiple middleware functions in sequence before reaching the final route handler.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Each middleware performs a specific task and then passes control using:  </a:t>
            </a:r>
            <a:r>
              <a:rPr b="1" lang="en"/>
              <a:t>next()</a:t>
            </a:r>
            <a:endParaRPr b="1"/>
          </a:p>
        </p:txBody>
      </p:sp>
      <p:sp>
        <p:nvSpPr>
          <p:cNvPr id="106" name="Google Shape;106;p17"/>
          <p:cNvSpPr txBox="1"/>
          <p:nvPr/>
        </p:nvSpPr>
        <p:spPr>
          <a:xfrm>
            <a:off x="718500" y="2466800"/>
            <a:ext cx="362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Why Do We Need Middleware Chaining? </a:t>
            </a:r>
            <a:endParaRPr b="1"/>
          </a:p>
        </p:txBody>
      </p:sp>
      <p:sp>
        <p:nvSpPr>
          <p:cNvPr id="107" name="Google Shape;107;p17"/>
          <p:cNvSpPr txBox="1"/>
          <p:nvPr/>
        </p:nvSpPr>
        <p:spPr>
          <a:xfrm>
            <a:off x="718500" y="2776225"/>
            <a:ext cx="4925400" cy="16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Imagine a protected application.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Before accessing data:</a:t>
            </a:r>
            <a:endParaRPr sz="12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1200"/>
              <a:t>Log Request</a:t>
            </a:r>
            <a:endParaRPr sz="12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1200"/>
              <a:t>Verify User</a:t>
            </a:r>
            <a:endParaRPr sz="12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1200"/>
              <a:t>Check Permissions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Should all this happen inside one middleware?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No</a:t>
            </a:r>
            <a:endParaRPr b="1" sz="1200"/>
          </a:p>
        </p:txBody>
      </p:sp>
      <p:sp>
        <p:nvSpPr>
          <p:cNvPr id="108" name="Google Shape;108;p17"/>
          <p:cNvSpPr txBox="1"/>
          <p:nvPr/>
        </p:nvSpPr>
        <p:spPr>
          <a:xfrm>
            <a:off x="6133650" y="2751625"/>
            <a:ext cx="1867500" cy="1693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Logger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↓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Authentication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↓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Authorization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↓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Controller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Middleware Chaining?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4" name="Google Shape;114;p1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6" name="Google Shape;116;p18"/>
          <p:cNvSpPr txBox="1"/>
          <p:nvPr/>
        </p:nvSpPr>
        <p:spPr>
          <a:xfrm>
            <a:off x="718525" y="78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Middleware Example </a:t>
            </a:r>
            <a:endParaRPr/>
          </a:p>
        </p:txBody>
      </p:sp>
      <p:pic>
        <p:nvPicPr>
          <p:cNvPr id="117" name="Google Shape;11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0800" y="1244075"/>
            <a:ext cx="2849826" cy="228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8525" y="3862550"/>
            <a:ext cx="3819487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8"/>
          <p:cNvSpPr txBox="1"/>
          <p:nvPr/>
        </p:nvSpPr>
        <p:spPr>
          <a:xfrm>
            <a:off x="5590375" y="1401750"/>
            <a:ext cx="3000000" cy="2124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 Request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↓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Middleware 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↓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Middleware 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↓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Route Handler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↓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Middleware Chaining?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5" name="Google Shape;125;p1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19"/>
          <p:cNvSpPr txBox="1"/>
          <p:nvPr/>
        </p:nvSpPr>
        <p:spPr>
          <a:xfrm>
            <a:off x="696014" y="1237978"/>
            <a:ext cx="35808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7550" lIns="107550" spcFirstLastPara="1" rIns="107550" wrap="square" tIns="1075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12"/>
              <a:t>next() Sequence </a:t>
            </a:r>
            <a:endParaRPr b="1" sz="1412"/>
          </a:p>
        </p:txBody>
      </p:sp>
      <p:sp>
        <p:nvSpPr>
          <p:cNvPr id="128" name="Google Shape;128;p19"/>
          <p:cNvSpPr txBox="1"/>
          <p:nvPr/>
        </p:nvSpPr>
        <p:spPr>
          <a:xfrm>
            <a:off x="654781" y="1708776"/>
            <a:ext cx="3529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7550" lIns="107550" spcFirstLastPara="1" rIns="107550" wrap="square" tIns="1075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12"/>
          </a:p>
        </p:txBody>
      </p:sp>
      <p:sp>
        <p:nvSpPr>
          <p:cNvPr id="129" name="Google Shape;129;p19"/>
          <p:cNvSpPr txBox="1"/>
          <p:nvPr/>
        </p:nvSpPr>
        <p:spPr>
          <a:xfrm>
            <a:off x="757864" y="1746304"/>
            <a:ext cx="4866600" cy="10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7550" lIns="107550" spcFirstLastPara="1" rIns="107550" wrap="square" tIns="1075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12">
                <a:solidFill>
                  <a:schemeClr val="dk1"/>
                </a:solidFill>
              </a:rPr>
              <a:t>Every middleware must call:  next(); </a:t>
            </a:r>
            <a:endParaRPr sz="1412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12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12"/>
              <a:t>Purpose: "Move request to the next middleware."</a:t>
            </a:r>
            <a:endParaRPr sz="1412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12"/>
              <a:t>Without next(): Request processing stops.</a:t>
            </a:r>
            <a:endParaRPr sz="1412"/>
          </a:p>
        </p:txBody>
      </p:sp>
      <p:pic>
        <p:nvPicPr>
          <p:cNvPr id="130" name="Google Shape;13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9525" y="3174425"/>
            <a:ext cx="1932725" cy="131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Middleware Chaining?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6" name="Google Shape;136;p2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p20"/>
          <p:cNvSpPr txBox="1"/>
          <p:nvPr/>
        </p:nvSpPr>
        <p:spPr>
          <a:xfrm>
            <a:off x="630875" y="972475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Route-Level Middleware </a:t>
            </a:r>
            <a:endParaRPr b="1" sz="1500"/>
          </a:p>
        </p:txBody>
      </p:sp>
      <p:pic>
        <p:nvPicPr>
          <p:cNvPr id="139" name="Google Shape;13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8600" y="1387975"/>
            <a:ext cx="2952900" cy="233324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0"/>
          <p:cNvSpPr txBox="1"/>
          <p:nvPr/>
        </p:nvSpPr>
        <p:spPr>
          <a:xfrm>
            <a:off x="5398600" y="3721215"/>
            <a:ext cx="2952900" cy="51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21700" lIns="121700" spcFirstLastPara="1" rIns="121700" wrap="square" tIns="121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31"/>
              <a:t>Only this route uses logger. </a:t>
            </a:r>
            <a:endParaRPr sz="1731"/>
          </a:p>
        </p:txBody>
      </p:sp>
      <p:sp>
        <p:nvSpPr>
          <p:cNvPr id="141" name="Google Shape;141;p20"/>
          <p:cNvSpPr txBox="1"/>
          <p:nvPr/>
        </p:nvSpPr>
        <p:spPr>
          <a:xfrm>
            <a:off x="630875" y="1709850"/>
            <a:ext cx="3900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Route-Level Middleware</a:t>
            </a:r>
            <a:r>
              <a:rPr lang="en">
                <a:solidFill>
                  <a:schemeClr val="dk1"/>
                </a:solidFill>
              </a:rPr>
              <a:t> is a middleware function that is applied to a specific route instead of the entire application.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It executes only when that particular route is accessed.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Middleware Chaining?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7" name="Google Shape;147;p2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9" name="Google Shape;149;p21"/>
          <p:cNvSpPr txBox="1"/>
          <p:nvPr/>
        </p:nvSpPr>
        <p:spPr>
          <a:xfrm>
            <a:off x="613350" y="911300"/>
            <a:ext cx="410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Route-Level vs Global Middleware </a:t>
            </a:r>
            <a:endParaRPr b="1"/>
          </a:p>
        </p:txBody>
      </p:sp>
      <p:graphicFrame>
        <p:nvGraphicFramePr>
          <p:cNvPr id="150" name="Google Shape;150;p21"/>
          <p:cNvGraphicFramePr/>
          <p:nvPr/>
        </p:nvGraphicFramePr>
        <p:xfrm>
          <a:off x="748250" y="155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{CB2A4877-7E38-4EDB-9DB2-F2094D1E9D0F}</a:tableStyleId>
              </a:tblPr>
              <a:tblGrid>
                <a:gridCol w="2189900"/>
                <a:gridCol w="33553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Global Middleware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Route-Level Middleware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Runs on every request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Runs on specific route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app.use()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app.get(), app.post()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Common functionality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Route specific functionality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51" name="Google Shape;15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8250" y="3129350"/>
            <a:ext cx="2004775" cy="1024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38150" y="3129350"/>
            <a:ext cx="3355299" cy="102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8" name="Google Shape;158;p2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2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chemeClr val="dk1"/>
                </a:solidFill>
              </a:rPr>
              <a:t>  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What is Middleware Chaining?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" name="Google Shape;160;p22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A. Executing multiple routes together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B. Executing multiple middleware functions in sequence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C. Connecting multiple servers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D. Creating multiple controllers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1" name="Google Shape;161;p22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3" name="Google Shape;163;p22"/>
          <p:cNvSpPr txBox="1"/>
          <p:nvPr/>
        </p:nvSpPr>
        <p:spPr>
          <a:xfrm>
            <a:off x="310950" y="331372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B. Executing multiple middleware functions in sequence 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64" name="Google Shape;164;p22"/>
          <p:cNvGrpSpPr/>
          <p:nvPr/>
        </p:nvGrpSpPr>
        <p:grpSpPr>
          <a:xfrm>
            <a:off x="310900" y="3959263"/>
            <a:ext cx="6005825" cy="548713"/>
            <a:chOff x="310900" y="3959263"/>
            <a:chExt cx="6005825" cy="548713"/>
          </a:xfrm>
        </p:grpSpPr>
        <p:sp>
          <p:nvSpPr>
            <p:cNvPr id="165" name="Google Shape;165;p22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66" name="Google Shape;166;p22"/>
            <p:cNvSpPr txBox="1"/>
            <p:nvPr/>
          </p:nvSpPr>
          <p:spPr>
            <a:xfrm>
              <a:off x="1607925" y="3959275"/>
              <a:ext cx="47088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Middleware Chaining means one middleware executes after another before reaching the route handler. </a:t>
              </a:r>
              <a:endParaRPr b="1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3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2" name="Google Shape;172;p2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3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chemeClr val="dk1"/>
                </a:solidFill>
              </a:rPr>
              <a:t>   </a:t>
            </a:r>
            <a:r>
              <a:rPr b="1" lang="en" sz="1100">
                <a:solidFill>
                  <a:schemeClr val="dk1"/>
                </a:solidFill>
              </a:rPr>
              <a:t>What is the purpose of </a:t>
            </a:r>
            <a:r>
              <a:rPr b="1"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next()</a:t>
            </a:r>
            <a:r>
              <a:rPr b="1" lang="en" sz="1100">
                <a:solidFill>
                  <a:schemeClr val="dk1"/>
                </a:solidFill>
              </a:rPr>
              <a:t> in Express middleware? </a:t>
            </a:r>
            <a:endParaRPr b="1"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4" name="Google Shape;174;p23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A. Stop the server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B. Send response to client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C. Pass control to the next middleware or route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D. Create a new route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5" name="Google Shape;175;p23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7" name="Google Shape;177;p23"/>
          <p:cNvSpPr txBox="1"/>
          <p:nvPr/>
        </p:nvSpPr>
        <p:spPr>
          <a:xfrm>
            <a:off x="310950" y="331372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C. Pass control to the next middleware or route 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78" name="Google Shape;178;p23"/>
          <p:cNvGrpSpPr/>
          <p:nvPr/>
        </p:nvGrpSpPr>
        <p:grpSpPr>
          <a:xfrm>
            <a:off x="310900" y="3959263"/>
            <a:ext cx="6005825" cy="1006513"/>
            <a:chOff x="310900" y="3959263"/>
            <a:chExt cx="6005825" cy="1006513"/>
          </a:xfrm>
        </p:grpSpPr>
        <p:sp>
          <p:nvSpPr>
            <p:cNvPr id="179" name="Google Shape;179;p23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80" name="Google Shape;180;p23"/>
            <p:cNvSpPr txBox="1"/>
            <p:nvPr/>
          </p:nvSpPr>
          <p:spPr>
            <a:xfrm>
              <a:off x="1607925" y="3959275"/>
              <a:ext cx="4708800" cy="100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next()</a:t>
              </a:r>
              <a:r>
                <a:rPr lang="en" sz="1200">
                  <a:solidFill>
                    <a:schemeClr val="dk1"/>
                  </a:solidFill>
                </a:rPr>
                <a:t> tells Express:</a:t>
              </a:r>
              <a:endParaRPr sz="1200">
                <a:solidFill>
                  <a:schemeClr val="dk1"/>
                </a:solidFill>
              </a:endParaRPr>
            </a:p>
            <a:p>
              <a:pPr indent="0" lvl="0" marL="381000" marR="3810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</a:rPr>
                <a:t>"My work is finished, continue processing the request."</a:t>
              </a:r>
              <a:endParaRPr sz="12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</a:rPr>
                <a:t>Without </a:t>
              </a:r>
              <a:r>
                <a:rPr lang="en" sz="120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next()</a:t>
              </a:r>
              <a:r>
                <a:rPr lang="en" sz="1200">
                  <a:solidFill>
                    <a:schemeClr val="dk1"/>
                  </a:solidFill>
                </a:rPr>
                <a:t>, the request stops.</a:t>
              </a:r>
              <a:endParaRPr sz="12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4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6" name="Google Shape;186;p2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4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chemeClr val="dk1"/>
                </a:solidFill>
              </a:rPr>
              <a:t>  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What is Route-Level Middleware?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" name="Google Shape;188;p24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A. Middleware that runs on every request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B. Middleware attached to a specific route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C. Middleware used only for databases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D. Middleware used only for authentication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9" name="Google Shape;189;p24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1" name="Google Shape;191;p24"/>
          <p:cNvSpPr txBox="1"/>
          <p:nvPr/>
        </p:nvSpPr>
        <p:spPr>
          <a:xfrm>
            <a:off x="310950" y="331372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B. Middleware attached to a specific route 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92" name="Google Shape;192;p24"/>
          <p:cNvGrpSpPr/>
          <p:nvPr/>
        </p:nvGrpSpPr>
        <p:grpSpPr>
          <a:xfrm>
            <a:off x="310900" y="3959263"/>
            <a:ext cx="6005825" cy="400200"/>
            <a:chOff x="310900" y="3959263"/>
            <a:chExt cx="6005825" cy="400200"/>
          </a:xfrm>
        </p:grpSpPr>
        <p:sp>
          <p:nvSpPr>
            <p:cNvPr id="193" name="Google Shape;193;p24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94" name="Google Shape;194;p24"/>
            <p:cNvSpPr txBox="1"/>
            <p:nvPr/>
          </p:nvSpPr>
          <p:spPr>
            <a:xfrm>
              <a:off x="1607925" y="3959275"/>
              <a:ext cx="47088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Route-Level Middleware runs only for a particular route. </a:t>
              </a:r>
              <a:endParaRPr b="1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5"/>
          <p:cNvSpPr txBox="1"/>
          <p:nvPr>
            <p:ph type="title"/>
          </p:nvPr>
        </p:nvSpPr>
        <p:spPr>
          <a:xfrm>
            <a:off x="310896" y="21031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0" name="Google Shape;200;p2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5"/>
          <p:cNvSpPr txBox="1"/>
          <p:nvPr/>
        </p:nvSpPr>
        <p:spPr>
          <a:xfrm>
            <a:off x="358850" y="1181200"/>
            <a:ext cx="8520600" cy="3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MDN Web Docs</a:t>
            </a:r>
            <a:r>
              <a:rPr b="1" lang="en" sz="1100">
                <a:solidFill>
                  <a:schemeClr val="dk1"/>
                </a:solidFill>
              </a:rPr>
              <a:t> :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Comprehensive and official documentation for Express Js</a:t>
            </a:r>
            <a:br>
              <a:rPr i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https://developer.mozilla.org/en-US/docs/Learn_web_development/Extensions/Server-side/Express_Nodejs</a:t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W3Schools  :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Beginner-friendly express tutorials with examples and interactive editors.</a:t>
            </a:r>
            <a:b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5"/>
              </a:rPr>
              <a:t>https://www.w3schools.com/nodejs/nodejs_express.asp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Express Official-</a:t>
            </a:r>
            <a:r>
              <a:rPr b="1"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b="1"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comprehensive tutorial-style website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that covers core Express JS concepts in depth.</a:t>
            </a:r>
            <a:endParaRPr i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🔗</a:t>
            </a:r>
            <a:r>
              <a:rPr lang="en" sz="1100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https://expressjs.com/en/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2" name="Google Shape;202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6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88813" y="386013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208" name="Google Shape;208;p26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6"/>
          <p:cNvSpPr txBox="1"/>
          <p:nvPr/>
        </p:nvSpPr>
        <p:spPr>
          <a:xfrm>
            <a:off x="4281700" y="2020825"/>
            <a:ext cx="47619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III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210" name="Google Shape;210;p26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211" name="Google Shape;211;p26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212" name="Google Shape;212;p26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3" name="Google Shape;213;p26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accent2"/>
                </a:solidFill>
              </a:rPr>
              <a:t>Sohna Road,Gurugram,Haryana 122103</a:t>
            </a:r>
            <a:endParaRPr sz="700">
              <a:solidFill>
                <a:schemeClr val="accent2"/>
              </a:solidFill>
            </a:endParaRPr>
          </a:p>
        </p:txBody>
      </p:sp>
      <p:pic>
        <p:nvPicPr>
          <p:cNvPr id="214" name="Google Shape;214;p26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6"/>
          <p:cNvSpPr txBox="1"/>
          <p:nvPr>
            <p:ph idx="12" type="sldNum"/>
          </p:nvPr>
        </p:nvSpPr>
        <p:spPr>
          <a:xfrm>
            <a:off x="8494883" y="464826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6" name="Google Shape;216;p26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Thanks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7" name="Google Shape;217;p26" title="Programming-bro.png"/>
          <p:cNvPicPr preferRelativeResize="0"/>
          <p:nvPr/>
        </p:nvPicPr>
        <p:blipFill rotWithShape="1">
          <a:blip r:embed="rId7">
            <a:alphaModFix/>
          </a:blip>
          <a:srcRect b="0" l="7673" r="9194" t="12034"/>
          <a:stretch/>
        </p:blipFill>
        <p:spPr>
          <a:xfrm>
            <a:off x="5235463" y="2773850"/>
            <a:ext cx="2892375" cy="203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