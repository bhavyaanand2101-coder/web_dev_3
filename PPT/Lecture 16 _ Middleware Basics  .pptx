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oboto Slab"/>
      <p:regular r:id="rId27"/>
      <p:bold r:id="rId28"/>
    </p:embeddedFont>
    <p:embeddedFont>
      <p:font typeface="Poppins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507395-0C53-4043-B16F-EB8AEB56C60A}">
  <a:tblStyle styleId="{2C507395-0C53-4043-B16F-EB8AEB56C60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Slab-bold.fntdata"/><Relationship Id="rId27" Type="http://schemas.openxmlformats.org/officeDocument/2006/relationships/font" Target="fonts/RobotoSlab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5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4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6.xml"/><Relationship Id="rId34" Type="http://schemas.openxmlformats.org/officeDocument/2006/relationships/font" Target="fonts/RobotoMon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40392c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940392c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940392c0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940392c0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940392c0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940392c0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82e43e56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82e43e56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940392c0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940392c0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82e43e56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82e43e56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82e43e56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82e43e56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82e43e56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82e43e56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82e43e56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82e43e56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82e43e56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82e43e56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82e43e56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82e43e56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82e43e564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82e43e564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82e43e56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82e43e56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82e43e564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82e43e564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82e43e564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82e43e564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940392c0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e940392c0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82e43e564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f82e43e564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82e43e564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82e43e564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4d3c4185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f4d3c418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4d3c4185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4d3c4185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12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hyperlink" Target="http://localhost:3000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hyperlink" Target="https://developer.mozilla.org/en-US/docs/Learn_web_development/Extensions/Server-side/Express_Nodejs" TargetMode="External"/><Relationship Id="rId5" Type="http://schemas.openxmlformats.org/officeDocument/2006/relationships/hyperlink" Target="https://www.w3schools.com/nodejs/nodejs_express.asp" TargetMode="External"/><Relationship Id="rId6" Type="http://schemas.openxmlformats.org/officeDocument/2006/relationships/hyperlink" Target="https://expressjs.com/en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8876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247500" y="2017650"/>
            <a:ext cx="47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4" name="Google Shape;64;p13"/>
          <p:cNvGrpSpPr/>
          <p:nvPr/>
        </p:nvGrpSpPr>
        <p:grpSpPr>
          <a:xfrm>
            <a:off x="309849" y="1233369"/>
            <a:ext cx="3415942" cy="2387863"/>
            <a:chOff x="788865" y="1515488"/>
            <a:chExt cx="4594407" cy="2387863"/>
          </a:xfrm>
        </p:grpSpPr>
        <p:sp>
          <p:nvSpPr>
            <p:cNvPr id="65" name="Google Shape;65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16</a:t>
              </a:r>
              <a:r>
                <a:rPr lang="en" sz="2700">
                  <a:solidFill>
                    <a:schemeClr val="lt1"/>
                  </a:solidFill>
                </a:rPr>
                <a:t>:</a:t>
              </a:r>
              <a:endParaRPr sz="2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6" name="Google Shape;66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90272" y="2145213"/>
              <a:ext cx="4593000" cy="12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2500">
                  <a:solidFill>
                    <a:schemeClr val="lt1"/>
                  </a:solidFill>
                </a:rPr>
                <a:t>Middleware Basics</a:t>
              </a:r>
              <a:r>
                <a:rPr b="1" lang="en" sz="2600">
                  <a:solidFill>
                    <a:schemeClr val="lt1"/>
                  </a:solidFill>
                </a:rPr>
                <a:t> </a:t>
              </a:r>
              <a:r>
                <a:rPr b="1" lang="en" sz="43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endParaRPr b="1" sz="4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Pratik Raj Verma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69" name="Google Shape;6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0125" y="3941879"/>
            <a:ext cx="548701" cy="3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6925" y="3941876"/>
            <a:ext cx="379415" cy="3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 title="Programming-bro.png"/>
          <p:cNvPicPr preferRelativeResize="0"/>
          <p:nvPr/>
        </p:nvPicPr>
        <p:blipFill rotWithShape="1">
          <a:blip r:embed="rId9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Middleware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Built-in Middleware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Custom Middleware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Third Party Middleware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References.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The End.</a:t>
            </a:r>
            <a:endParaRPr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576075" y="210300"/>
            <a:ext cx="7223700" cy="22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073763"/>
                </a:solidFill>
              </a:rPr>
              <a:t>You enter an airport. Can you directly board the airplane?  </a:t>
            </a:r>
            <a:endParaRPr b="1" sz="20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073763"/>
                </a:solidFill>
              </a:rPr>
              <a:t>No </a:t>
            </a:r>
            <a:endParaRPr b="1" sz="20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073763"/>
                </a:solidFill>
              </a:rPr>
              <a:t>You first pass through Security Check, Ticket Verification, Luggage Check. Only then can you enter the plane.</a:t>
            </a:r>
            <a:endParaRPr b="1" sz="20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5" title="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2800" y="1604325"/>
            <a:ext cx="4064050" cy="3269425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" name="Google Shape;94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76075" y="210300"/>
            <a:ext cx="7223700" cy="22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073763"/>
                </a:solidFill>
              </a:rPr>
              <a:t>Question: Can a request directly access backend routes?</a:t>
            </a:r>
            <a:endParaRPr b="1" sz="2000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073763"/>
                </a:solidFill>
              </a:rPr>
              <a:t>Not always </a:t>
            </a:r>
            <a:endParaRPr b="1" sz="2000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073763"/>
                </a:solidFill>
              </a:rPr>
              <a:t>There is something in between. That is called: Middleware</a:t>
            </a:r>
            <a:endParaRPr b="1" sz="20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4500" y="1496975"/>
            <a:ext cx="3055001" cy="3455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Middleware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3" name="Google Shape;103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536600" y="1011575"/>
            <a:ext cx="5004000" cy="25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Middleware is a function that executes between receiving a request and sending a response.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Middleware can: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Modify Request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Modify Response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Validate Data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Authenticate Users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Log Information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Stop Requests</a:t>
            </a:r>
            <a:endParaRPr sz="1100"/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0700" y="1768038"/>
            <a:ext cx="5318811" cy="160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Middleware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2" name="Google Shape;112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641325" y="11698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Types of Middleware </a:t>
            </a:r>
            <a:endParaRPr b="1" sz="1600"/>
          </a:p>
        </p:txBody>
      </p:sp>
      <p:sp>
        <p:nvSpPr>
          <p:cNvPr id="115" name="Google Shape;115;p18"/>
          <p:cNvSpPr txBox="1"/>
          <p:nvPr/>
        </p:nvSpPr>
        <p:spPr>
          <a:xfrm>
            <a:off x="641325" y="1923000"/>
            <a:ext cx="45720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Express provides different types of middleware: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Built-in Middleware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Custom Middleware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Third-Party Middleware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Built-in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Middleware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680575" y="1011575"/>
            <a:ext cx="483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Built-in Middleware</a:t>
            </a:r>
            <a:r>
              <a:rPr lang="en" sz="1200">
                <a:solidFill>
                  <a:schemeClr val="dk1"/>
                </a:solidFill>
              </a:rPr>
              <a:t> are middleware functions that are already provided by Express.js. </a:t>
            </a:r>
            <a:endParaRPr sz="1500"/>
          </a:p>
        </p:txBody>
      </p:sp>
      <p:sp>
        <p:nvSpPr>
          <p:cNvPr id="124" name="Google Shape;124;p19"/>
          <p:cNvSpPr txBox="1"/>
          <p:nvPr/>
        </p:nvSpPr>
        <p:spPr>
          <a:xfrm>
            <a:off x="680575" y="17913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express.json() </a:t>
            </a:r>
            <a:endParaRPr b="1"/>
          </a:p>
        </p:txBody>
      </p:sp>
      <p:sp>
        <p:nvSpPr>
          <p:cNvPr id="125" name="Google Shape;125;p19"/>
          <p:cNvSpPr txBox="1"/>
          <p:nvPr/>
        </p:nvSpPr>
        <p:spPr>
          <a:xfrm>
            <a:off x="680575" y="2202300"/>
            <a:ext cx="543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One of the most commonly used built-in middleware is </a:t>
            </a:r>
            <a:r>
              <a:rPr b="1"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express.json()</a:t>
            </a:r>
            <a:r>
              <a:rPr lang="en" sz="1200">
                <a:solidFill>
                  <a:schemeClr val="dk1"/>
                </a:solidFill>
              </a:rPr>
              <a:t>, which converts incoming JSON data into a JavaScript object so that it can be accessed through </a:t>
            </a: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req.body</a:t>
            </a:r>
            <a:r>
              <a:rPr lang="en" sz="1200">
                <a:solidFill>
                  <a:schemeClr val="dk1"/>
                </a:solidFill>
              </a:rPr>
              <a:t>. 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638" y="3196850"/>
            <a:ext cx="2765875" cy="101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 txBox="1"/>
          <p:nvPr/>
        </p:nvSpPr>
        <p:spPr>
          <a:xfrm>
            <a:off x="5038775" y="3071100"/>
            <a:ext cx="3669000" cy="126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Read JSON data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Convert JSON into JavaScript Object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Without it: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eq.body returns: undefined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Built-in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Middleware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3" name="Google Shape;133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0"/>
          <p:cNvSpPr txBox="1"/>
          <p:nvPr/>
        </p:nvSpPr>
        <p:spPr>
          <a:xfrm>
            <a:off x="471150" y="10115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express.urlencoded() 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562775" y="1637400"/>
            <a:ext cx="45720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express.urlencoded()</a:t>
            </a:r>
            <a:r>
              <a:rPr lang="en" sz="1100">
                <a:solidFill>
                  <a:schemeClr val="dk1"/>
                </a:solidFill>
              </a:rPr>
              <a:t> is a built-in Express middleware that parses data sent from HTML forms and makes it available in the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req.body</a:t>
            </a:r>
            <a:r>
              <a:rPr lang="en" sz="1100">
                <a:solidFill>
                  <a:schemeClr val="dk1"/>
                </a:solidFill>
              </a:rPr>
              <a:t> object.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When a user submits a form, the data is sent in URL-encoded format. The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express.urlencoded()</a:t>
            </a:r>
            <a:r>
              <a:rPr lang="en" sz="1100">
                <a:solidFill>
                  <a:schemeClr val="dk1"/>
                </a:solidFill>
              </a:rPr>
              <a:t> middleware converts this data into a JavaScript object so that it can be easily accessed inside the route handler.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150" y="3806938"/>
            <a:ext cx="4912200" cy="92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3795" y="1637400"/>
            <a:ext cx="3873980" cy="9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Custom Middleware Middleware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4" name="Google Shape;144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21"/>
          <p:cNvSpPr txBox="1"/>
          <p:nvPr/>
        </p:nvSpPr>
        <p:spPr>
          <a:xfrm>
            <a:off x="719825" y="1011575"/>
            <a:ext cx="5331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Custom Middleware</a:t>
            </a:r>
            <a:r>
              <a:rPr lang="en" sz="1200">
                <a:solidFill>
                  <a:schemeClr val="dk1"/>
                </a:solidFill>
              </a:rPr>
              <a:t> is a middleware function created by the developer to perform specific tasks before a request reaches the route handler.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 can be used for logging, authentication, validation, request tracking, and many other custom operations. </a:t>
            </a:r>
            <a:endParaRPr sz="1200"/>
          </a:p>
        </p:txBody>
      </p:sp>
      <p:pic>
        <p:nvPicPr>
          <p:cNvPr id="147" name="Google Shape;14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1200" y="2198300"/>
            <a:ext cx="2648350" cy="269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 txBox="1"/>
          <p:nvPr/>
        </p:nvSpPr>
        <p:spPr>
          <a:xfrm>
            <a:off x="5025725" y="2984275"/>
            <a:ext cx="3341700" cy="1906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How it works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Client sends a request.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logger</a:t>
            </a:r>
            <a:r>
              <a:rPr lang="en" sz="1100">
                <a:solidFill>
                  <a:schemeClr val="dk1"/>
                </a:solidFill>
              </a:rPr>
              <a:t> middleware executes first.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"Request Received"</a:t>
            </a:r>
            <a:r>
              <a:rPr lang="en" sz="1100">
                <a:solidFill>
                  <a:schemeClr val="dk1"/>
                </a:solidFill>
              </a:rPr>
              <a:t> is printed in the console.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next()</a:t>
            </a:r>
            <a:r>
              <a:rPr lang="en" sz="1100">
                <a:solidFill>
                  <a:schemeClr val="dk1"/>
                </a:solidFill>
              </a:rPr>
              <a:t> passes control to the next middleware or route.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The route handler sends the response.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Custom Middleware Middleware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4" name="Google Shape;154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22"/>
          <p:cNvSpPr txBox="1"/>
          <p:nvPr/>
        </p:nvSpPr>
        <p:spPr>
          <a:xfrm>
            <a:off x="497325" y="1011575"/>
            <a:ext cx="5540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Logger Middleware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It </a:t>
            </a:r>
            <a:r>
              <a:rPr lang="en" sz="1200">
                <a:solidFill>
                  <a:schemeClr val="dk1"/>
                </a:solidFill>
              </a:rPr>
              <a:t>is a middleware function that records information about incoming requests, such as the request method, URL, time, or user activity.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 is commonly used for monitoring, debugging, and tracking application usage. </a:t>
            </a:r>
            <a:endParaRPr sz="1200"/>
          </a:p>
        </p:txBody>
      </p:sp>
      <p:pic>
        <p:nvPicPr>
          <p:cNvPr id="157" name="Google Shape;15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8400" y="2304575"/>
            <a:ext cx="2914500" cy="26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 txBox="1"/>
          <p:nvPr/>
        </p:nvSpPr>
        <p:spPr>
          <a:xfrm>
            <a:off x="5719350" y="3429575"/>
            <a:ext cx="1719000" cy="1362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Output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If a user visits: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hlink"/>
                </a:solidFill>
                <a:hlinkClick r:id="rId5"/>
              </a:rPr>
              <a:t>http://localhost:3000/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Console: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GET /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Third Party Middleware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4" name="Google Shape;164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3"/>
          <p:cNvSpPr txBox="1"/>
          <p:nvPr/>
        </p:nvSpPr>
        <p:spPr>
          <a:xfrm>
            <a:off x="602050" y="1011575"/>
            <a:ext cx="56058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Third-Party Middleware</a:t>
            </a:r>
            <a:r>
              <a:rPr lang="en" sz="1200">
                <a:solidFill>
                  <a:schemeClr val="dk1"/>
                </a:solidFill>
              </a:rPr>
              <a:t> refers to middleware functions developed by external developers or organizations and installed through npm.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These middleware packages provide additional functionality that is not included in Express by default.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Common examples include </a:t>
            </a:r>
            <a:r>
              <a:rPr b="1" lang="en" sz="1100">
                <a:solidFill>
                  <a:schemeClr val="dk1"/>
                </a:solidFill>
              </a:rPr>
              <a:t>CORS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Morgan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Helmet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Cookie-Parser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667475" y="25717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1. Morgan Middleware </a:t>
            </a:r>
            <a:endParaRPr b="1"/>
          </a:p>
        </p:txBody>
      </p:sp>
      <p:sp>
        <p:nvSpPr>
          <p:cNvPr id="168" name="Google Shape;168;p23"/>
          <p:cNvSpPr txBox="1"/>
          <p:nvPr/>
        </p:nvSpPr>
        <p:spPr>
          <a:xfrm>
            <a:off x="867625" y="3167900"/>
            <a:ext cx="402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Morgan</a:t>
            </a:r>
            <a:r>
              <a:rPr lang="en" sz="1200">
                <a:solidFill>
                  <a:schemeClr val="dk1"/>
                </a:solidFill>
              </a:rPr>
              <a:t> is a third-party middleware used for logging HTTP requests. It helps developers monitor incoming requests and debug applications.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5719625" y="2971950"/>
            <a:ext cx="2590200" cy="400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npm install morgan</a:t>
            </a:r>
            <a:endParaRPr/>
          </a:p>
        </p:txBody>
      </p:sp>
      <p:pic>
        <p:nvPicPr>
          <p:cNvPr id="170" name="Google Shape;17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8950" y="3372146"/>
            <a:ext cx="2590250" cy="109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 txBox="1"/>
          <p:nvPr/>
        </p:nvSpPr>
        <p:spPr>
          <a:xfrm>
            <a:off x="5714975" y="4466525"/>
            <a:ext cx="2590200" cy="400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/students 200 10 ms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Third Party Middleware 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7" name="Google Shape;177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p24"/>
          <p:cNvSpPr txBox="1"/>
          <p:nvPr/>
        </p:nvSpPr>
        <p:spPr>
          <a:xfrm>
            <a:off x="615125" y="10115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2. </a:t>
            </a:r>
            <a:r>
              <a:rPr b="1" lang="en" sz="1200"/>
              <a:t>CORS Middleware </a:t>
            </a:r>
            <a:endParaRPr b="1" sz="1200"/>
          </a:p>
        </p:txBody>
      </p:sp>
      <p:sp>
        <p:nvSpPr>
          <p:cNvPr id="180" name="Google Shape;180;p24"/>
          <p:cNvSpPr txBox="1"/>
          <p:nvPr/>
        </p:nvSpPr>
        <p:spPr>
          <a:xfrm>
            <a:off x="811450" y="1478900"/>
            <a:ext cx="48468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CORS (Cross-Origin Resource Sharing)</a:t>
            </a:r>
            <a:r>
              <a:rPr lang="en" sz="1200">
                <a:solidFill>
                  <a:schemeClr val="dk1"/>
                </a:solidFill>
              </a:rPr>
              <a:t> is used to allow requests from different domains, ports, or origins.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81" name="Google Shape;181;p24"/>
          <p:cNvSpPr txBox="1"/>
          <p:nvPr/>
        </p:nvSpPr>
        <p:spPr>
          <a:xfrm>
            <a:off x="811450" y="2371650"/>
            <a:ext cx="2543400" cy="400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npm install cors</a:t>
            </a:r>
            <a:endParaRPr/>
          </a:p>
        </p:txBody>
      </p:sp>
      <p:pic>
        <p:nvPicPr>
          <p:cNvPr id="182" name="Google Shape;18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450" y="2753550"/>
            <a:ext cx="2543375" cy="126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4"/>
          <p:cNvSpPr txBox="1"/>
          <p:nvPr/>
        </p:nvSpPr>
        <p:spPr>
          <a:xfrm>
            <a:off x="4685700" y="3159825"/>
            <a:ext cx="3171600" cy="861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Use Case: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React frontend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localhost:5173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calling Node backend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localhost:3000</a:t>
            </a:r>
            <a:r>
              <a:rPr lang="en" sz="1100">
                <a:solidFill>
                  <a:schemeClr val="dk1"/>
                </a:solidFill>
              </a:rPr>
              <a:t>).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Third Party Middleware 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9" name="Google Shape;189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25"/>
          <p:cNvSpPr txBox="1"/>
          <p:nvPr/>
        </p:nvSpPr>
        <p:spPr>
          <a:xfrm>
            <a:off x="523525" y="1177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3. </a:t>
            </a:r>
            <a:r>
              <a:rPr b="1" lang="en"/>
              <a:t>Cookie-Parser Middleware </a:t>
            </a:r>
            <a:endParaRPr b="1"/>
          </a:p>
        </p:txBody>
      </p:sp>
      <p:sp>
        <p:nvSpPr>
          <p:cNvPr id="192" name="Google Shape;192;p25"/>
          <p:cNvSpPr txBox="1"/>
          <p:nvPr/>
        </p:nvSpPr>
        <p:spPr>
          <a:xfrm>
            <a:off x="706750" y="1662150"/>
            <a:ext cx="471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Cookie-Parser</a:t>
            </a:r>
            <a:r>
              <a:rPr lang="en" sz="1200">
                <a:solidFill>
                  <a:schemeClr val="dk1"/>
                </a:solidFill>
              </a:rPr>
              <a:t> parses cookies attached to client requests and makes them available in </a:t>
            </a: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req.cookies</a:t>
            </a:r>
            <a:r>
              <a:rPr lang="en" sz="1200">
                <a:solidFill>
                  <a:schemeClr val="dk1"/>
                </a:solidFill>
              </a:rPr>
              <a:t>.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3" name="Google Shape;193;p25"/>
          <p:cNvSpPr txBox="1"/>
          <p:nvPr/>
        </p:nvSpPr>
        <p:spPr>
          <a:xfrm>
            <a:off x="863841" y="2747725"/>
            <a:ext cx="3393900" cy="328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74950" lIns="74950" spcFirstLastPara="1" rIns="74950" wrap="square" tIns="74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8"/>
              <a:t>npm install cookie-parser</a:t>
            </a:r>
            <a:endParaRPr sz="1148"/>
          </a:p>
        </p:txBody>
      </p:sp>
      <p:pic>
        <p:nvPicPr>
          <p:cNvPr id="194" name="Google Shape;19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800" y="3075815"/>
            <a:ext cx="3394100" cy="98738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/>
          <p:nvPr/>
        </p:nvSpPr>
        <p:spPr>
          <a:xfrm>
            <a:off x="5422750" y="3360600"/>
            <a:ext cx="3000000" cy="702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Access Cookie: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console.log(req.cookies);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Third Party Middleware 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1" name="Google Shape;201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26"/>
          <p:cNvSpPr txBox="1"/>
          <p:nvPr/>
        </p:nvSpPr>
        <p:spPr>
          <a:xfrm>
            <a:off x="588950" y="10115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4</a:t>
            </a:r>
            <a:r>
              <a:rPr b="1" lang="en"/>
              <a:t>.  </a:t>
            </a:r>
            <a:r>
              <a:rPr b="1" lang="en"/>
              <a:t>Multer Middleware </a:t>
            </a:r>
            <a:endParaRPr b="1"/>
          </a:p>
        </p:txBody>
      </p:sp>
      <p:sp>
        <p:nvSpPr>
          <p:cNvPr id="204" name="Google Shape;204;p26"/>
          <p:cNvSpPr txBox="1"/>
          <p:nvPr/>
        </p:nvSpPr>
        <p:spPr>
          <a:xfrm>
            <a:off x="706750" y="1478900"/>
            <a:ext cx="3865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Multer</a:t>
            </a:r>
            <a:r>
              <a:rPr lang="en" sz="1300">
                <a:solidFill>
                  <a:schemeClr val="dk1"/>
                </a:solidFill>
              </a:rPr>
              <a:t> is used to handle file uploads such as images, PDFs, and documents. 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05" name="Google Shape;205;p26"/>
          <p:cNvSpPr txBox="1"/>
          <p:nvPr/>
        </p:nvSpPr>
        <p:spPr>
          <a:xfrm>
            <a:off x="706750" y="2209550"/>
            <a:ext cx="4478100" cy="400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npm install multer</a:t>
            </a:r>
            <a:endParaRPr/>
          </a:p>
        </p:txBody>
      </p:sp>
      <p:pic>
        <p:nvPicPr>
          <p:cNvPr id="206" name="Google Shape;20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750" y="2575125"/>
            <a:ext cx="4477950" cy="156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Third Party Middleware 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2" name="Google Shape;212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14" name="Google Shape;214;p27"/>
          <p:cNvGraphicFramePr/>
          <p:nvPr/>
        </p:nvGraphicFramePr>
        <p:xfrm>
          <a:off x="1892075" y="142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{2C507395-0C53-4043-B16F-EB8AEB56C60A}</a:tableStyleId>
              </a:tblPr>
              <a:tblGrid>
                <a:gridCol w="1952750"/>
                <a:gridCol w="2357400"/>
              </a:tblGrid>
              <a:tr h="235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Middleware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Purpose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8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Morgan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Request Logging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8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CORS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Cross-Origin Requests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8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Helmet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Security Headers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8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Cookie-Parser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Read Cookies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8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Express-Session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Session Management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8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Multer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File Upload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8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Compression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Response Compression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8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Express-Rate-Limit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API Rate Limiting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8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JWT Middleware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Token Authentication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8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Passport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Authentication &amp; OAuth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0" name="Google Shape;220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8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Which function allows request to move to the next middleware?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310900" y="1748350"/>
            <a:ext cx="8084700" cy="18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send()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listen()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next()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json()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3" name="Google Shape;223;p28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8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next()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26" name="Google Shape;226;p28"/>
          <p:cNvGrpSpPr/>
          <p:nvPr/>
        </p:nvGrpSpPr>
        <p:grpSpPr>
          <a:xfrm>
            <a:off x="310900" y="3959263"/>
            <a:ext cx="6005825" cy="548713"/>
            <a:chOff x="310900" y="3959263"/>
            <a:chExt cx="6005825" cy="548713"/>
          </a:xfrm>
        </p:grpSpPr>
        <p:sp>
          <p:nvSpPr>
            <p:cNvPr id="227" name="Google Shape;227;p28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28" name="Google Shape;228;p28"/>
            <p:cNvSpPr txBox="1"/>
            <p:nvPr/>
          </p:nvSpPr>
          <p:spPr>
            <a:xfrm>
              <a:off x="1607925" y="3959275"/>
              <a:ext cx="4708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next()</a:t>
              </a:r>
              <a:r>
                <a:rPr lang="en" sz="1100">
                  <a:solidFill>
                    <a:schemeClr val="dk1"/>
                  </a:solidFill>
                </a:rPr>
                <a:t> passes control to the next middleware or route handler in the request-response cycle. 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4" name="Google Shape;234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9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Which middleware is used to read JSON data?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cors()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express.json() 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logger()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next()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7" name="Google Shape;237;p29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29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express.json() 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40" name="Google Shape;240;p29"/>
          <p:cNvGrpSpPr/>
          <p:nvPr/>
        </p:nvGrpSpPr>
        <p:grpSpPr>
          <a:xfrm>
            <a:off x="310900" y="3959263"/>
            <a:ext cx="6005825" cy="548713"/>
            <a:chOff x="310900" y="3959263"/>
            <a:chExt cx="6005825" cy="548713"/>
          </a:xfrm>
        </p:grpSpPr>
        <p:sp>
          <p:nvSpPr>
            <p:cNvPr id="241" name="Google Shape;241;p29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42" name="Google Shape;242;p29"/>
            <p:cNvSpPr txBox="1"/>
            <p:nvPr/>
          </p:nvSpPr>
          <p:spPr>
            <a:xfrm>
              <a:off x="1607925" y="3959275"/>
              <a:ext cx="4708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express.json()</a:t>
              </a:r>
              <a:r>
                <a:rPr lang="en" sz="1100">
                  <a:solidFill>
                    <a:schemeClr val="dk1"/>
                  </a:solidFill>
                </a:rPr>
                <a:t> parses incoming JSON data and makes it available in </a:t>
              </a:r>
              <a:r>
                <a:rPr lang="en" sz="11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req.body</a:t>
              </a:r>
              <a:r>
                <a:rPr lang="en" sz="1100">
                  <a:solidFill>
                    <a:schemeClr val="dk1"/>
                  </a:solidFill>
                </a:rPr>
                <a:t>. 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8" name="Google Shape;248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0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Which middleware allows frontend and backend communication across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different origins?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p30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express.json()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auth()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logger()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cors()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1" name="Google Shape;251;p30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30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cors()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4" name="Google Shape;254;p30"/>
          <p:cNvGrpSpPr/>
          <p:nvPr/>
        </p:nvGrpSpPr>
        <p:grpSpPr>
          <a:xfrm>
            <a:off x="310900" y="3959263"/>
            <a:ext cx="6005825" cy="548713"/>
            <a:chOff x="310900" y="3959263"/>
            <a:chExt cx="6005825" cy="548713"/>
          </a:xfrm>
        </p:grpSpPr>
        <p:sp>
          <p:nvSpPr>
            <p:cNvPr id="255" name="Google Shape;255;p30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56" name="Google Shape;256;p30"/>
            <p:cNvSpPr txBox="1"/>
            <p:nvPr/>
          </p:nvSpPr>
          <p:spPr>
            <a:xfrm>
              <a:off x="1607925" y="3959275"/>
              <a:ext cx="4708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cors()</a:t>
              </a:r>
              <a:r>
                <a:rPr lang="en" sz="1100">
                  <a:solidFill>
                    <a:schemeClr val="dk1"/>
                  </a:solidFill>
                </a:rPr>
                <a:t> allows requests between different origins, such as a React frontend and Express backend running on different ports. 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2" name="Google Shape;262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1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Express Js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https://developer.mozilla.org/en-US/docs/Learn_web_development/Extensions/Server-side/Express_Nodejs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express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https://www.w3schools.com/nodejs/nodejs_express.asp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Express Official-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covers core Express JS concepts in depth.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https://expressjs.com/en/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" name="Google Shape;26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32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88813" y="38601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270" name="Google Shape;270;p32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2"/>
          <p:cNvSpPr txBox="1"/>
          <p:nvPr/>
        </p:nvSpPr>
        <p:spPr>
          <a:xfrm>
            <a:off x="4281700" y="2020825"/>
            <a:ext cx="47619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272" name="Google Shape;272;p32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273" name="Google Shape;273;p32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274" name="Google Shape;274;p32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5" name="Google Shape;275;p32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276" name="Google Shape;276;p32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2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2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9" name="Google Shape;279;p32" title="Programming-bro.png"/>
          <p:cNvPicPr preferRelativeResize="0"/>
          <p:nvPr/>
        </p:nvPicPr>
        <p:blipFill rotWithShape="1">
          <a:blip r:embed="rId7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