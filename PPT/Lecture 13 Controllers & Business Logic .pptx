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oboto Slab"/>
      <p:regular r:id="rId30"/>
      <p:bold r:id="rId31"/>
    </p:embeddedFont>
    <p:embeddedFont>
      <p:font typeface="Poppins"/>
      <p:regular r:id="rId32"/>
      <p:bold r:id="rId33"/>
      <p:italic r:id="rId34"/>
      <p:boldItalic r:id="rId35"/>
    </p:embeddedFont>
    <p:embeddedFont>
      <p:font typeface="Roboto Mon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Slab-bold.fntdata"/><Relationship Id="rId30" Type="http://schemas.openxmlformats.org/officeDocument/2006/relationships/font" Target="fonts/RobotoSlab-regular.fntdata"/><Relationship Id="rId11" Type="http://schemas.openxmlformats.org/officeDocument/2006/relationships/slide" Target="slides/slide6.xml"/><Relationship Id="rId33" Type="http://schemas.openxmlformats.org/officeDocument/2006/relationships/font" Target="fonts/Poppins-bold.fntdata"/><Relationship Id="rId10" Type="http://schemas.openxmlformats.org/officeDocument/2006/relationships/slide" Target="slides/slide5.xml"/><Relationship Id="rId32" Type="http://schemas.openxmlformats.org/officeDocument/2006/relationships/font" Target="fonts/Poppins-regular.fntdata"/><Relationship Id="rId13" Type="http://schemas.openxmlformats.org/officeDocument/2006/relationships/slide" Target="slides/slide8.xml"/><Relationship Id="rId35" Type="http://schemas.openxmlformats.org/officeDocument/2006/relationships/font" Target="fonts/Poppins-boldItalic.fntdata"/><Relationship Id="rId12" Type="http://schemas.openxmlformats.org/officeDocument/2006/relationships/slide" Target="slides/slide7.xml"/><Relationship Id="rId34" Type="http://schemas.openxmlformats.org/officeDocument/2006/relationships/font" Target="fonts/Poppins-italic.fntdata"/><Relationship Id="rId15" Type="http://schemas.openxmlformats.org/officeDocument/2006/relationships/slide" Target="slides/slide10.xml"/><Relationship Id="rId37" Type="http://schemas.openxmlformats.org/officeDocument/2006/relationships/font" Target="fonts/RobotoMono-bold.fntdata"/><Relationship Id="rId14" Type="http://schemas.openxmlformats.org/officeDocument/2006/relationships/slide" Target="slides/slide9.xml"/><Relationship Id="rId36" Type="http://schemas.openxmlformats.org/officeDocument/2006/relationships/font" Target="fonts/RobotoMono-regular.fntdata"/><Relationship Id="rId17" Type="http://schemas.openxmlformats.org/officeDocument/2006/relationships/slide" Target="slides/slide12.xml"/><Relationship Id="rId39" Type="http://schemas.openxmlformats.org/officeDocument/2006/relationships/font" Target="fonts/RobotoMono-boldItalic.fntdata"/><Relationship Id="rId16" Type="http://schemas.openxmlformats.org/officeDocument/2006/relationships/slide" Target="slides/slide11.xml"/><Relationship Id="rId38" Type="http://schemas.openxmlformats.org/officeDocument/2006/relationships/font" Target="fonts/RobotoMon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940341a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940341a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940341a0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940341a0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940341a0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940341a0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49ec9cd0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49ec9cd0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4e633ceee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4e633ceee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940341a0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940341a0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b58652b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b58652b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b58652b4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b58652b4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805efb73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805efb73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805efb73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805efb73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805efb73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805efb73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805efb73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f805efb73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805efb73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805efb73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805efb73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805efb73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4e633ceee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4e633ceee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805efb738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805efb738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805efb73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f805efb73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805efb738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805efb738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805efb738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f805efb738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940341a0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e940341a0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805efb738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f805efb738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805efb738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f805efb738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4d3a1811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f4d3a1811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4d3a1811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f4d3a1811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hyperlink" Target="https://developer.mozilla.org/en-US/docs/Learn_web_development/Extensions/Server-side/Express_Nodejs" TargetMode="External"/><Relationship Id="rId5" Type="http://schemas.openxmlformats.org/officeDocument/2006/relationships/hyperlink" Target="https://www.w3schools.com/nodejs/nodejs_express.asp" TargetMode="External"/><Relationship Id="rId6" Type="http://schemas.openxmlformats.org/officeDocument/2006/relationships/hyperlink" Target="https://expressjs.com/en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8876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247500" y="2017650"/>
            <a:ext cx="47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4" name="Google Shape;64;p13"/>
          <p:cNvGrpSpPr/>
          <p:nvPr/>
        </p:nvGrpSpPr>
        <p:grpSpPr>
          <a:xfrm>
            <a:off x="309849" y="1233369"/>
            <a:ext cx="3415942" cy="2387863"/>
            <a:chOff x="788865" y="1515488"/>
            <a:chExt cx="4594407" cy="2387863"/>
          </a:xfrm>
        </p:grpSpPr>
        <p:sp>
          <p:nvSpPr>
            <p:cNvPr id="65" name="Google Shape;65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13</a:t>
              </a:r>
              <a:r>
                <a:rPr lang="en" sz="2700">
                  <a:solidFill>
                    <a:schemeClr val="lt1"/>
                  </a:solidFill>
                </a:rPr>
                <a:t>:</a:t>
              </a:r>
              <a:endParaRPr sz="2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6" name="Google Shape;66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90272" y="2145213"/>
              <a:ext cx="4593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700">
                  <a:solidFill>
                    <a:schemeClr val="lt1"/>
                  </a:solidFill>
                </a:rPr>
                <a:t>Controllers &amp; Business Logic</a:t>
              </a:r>
              <a:r>
                <a:rPr b="1" lang="en" sz="1800">
                  <a:solidFill>
                    <a:schemeClr val="lt1"/>
                  </a:solidFill>
                </a:rPr>
                <a:t> </a:t>
              </a:r>
              <a:endParaRPr b="1" sz="3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Pratik Raj Verma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69" name="Google Shape;69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0125" y="3941879"/>
            <a:ext cx="548701" cy="3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96925" y="3941876"/>
            <a:ext cx="379415" cy="3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 title="Programming-bro.png"/>
          <p:cNvPicPr preferRelativeResize="0"/>
          <p:nvPr/>
        </p:nvPicPr>
        <p:blipFill rotWithShape="1">
          <a:blip r:embed="rId9">
            <a:alphaModFix/>
          </a:blip>
          <a:srcRect b="0" l="7673" r="9194" t="12034"/>
          <a:stretch/>
        </p:blipFill>
        <p:spPr>
          <a:xfrm>
            <a:off x="5235463" y="2773850"/>
            <a:ext cx="2892375" cy="20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Controller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Route Connection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References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The End</a:t>
            </a:r>
            <a:endParaRPr>
              <a:solidFill>
                <a:srgbClr val="273239"/>
              </a:solidFill>
            </a:endParaRPr>
          </a:p>
        </p:txBody>
      </p:sp>
      <p:pic>
        <p:nvPicPr>
          <p:cNvPr id="78" name="Google Shape;78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576075" y="210300"/>
            <a:ext cx="7223700" cy="14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gone to a restaurant and ordered food? You give your order to the waiter, and after some time, food arrives at your table.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But who actually made the food? Did the waiter cook it, or was someone else working behind the scenes in the kitchen?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576900" y="1573525"/>
            <a:ext cx="3616200" cy="28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No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waiter only takes your request and sends it to the kitchen.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waiter does not cook the food and has nothing to do with the kitchen work.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real work happens inside the kitchen, where the chef prepares the food.  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2775" y="1658725"/>
            <a:ext cx="3762699" cy="1295000"/>
          </a:xfrm>
          <a:prstGeom prst="rect">
            <a:avLst/>
          </a:prstGeom>
          <a:noFill/>
          <a:ln>
            <a:noFill/>
          </a:ln>
          <a:effectLst>
            <a:outerShdw blurRad="128588" rotWithShape="0" algn="bl" dir="6900000" dist="76200">
              <a:srgbClr val="000000">
                <a:alpha val="50000"/>
              </a:srgbClr>
            </a:outerShdw>
          </a:effectLst>
        </p:spPr>
      </p:pic>
      <p:pic>
        <p:nvPicPr>
          <p:cNvPr id="90" name="Google Shape;9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2775" y="3600875"/>
            <a:ext cx="3762701" cy="832972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6" name="Google Shape;96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576075" y="210300"/>
            <a:ext cx="7223700" cy="14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Have you ever ordered food online using Zomato or Swiggy?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Come on… today let’s order a burger and understand what Controllers actually do inside backend applications.  😄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644675" y="1328900"/>
            <a:ext cx="44250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Suppose you open Zomato and search for: </a:t>
            </a:r>
            <a:r>
              <a:rPr b="1" lang="en" sz="1100"/>
              <a:t>Burger Near Me </a:t>
            </a:r>
            <a:endParaRPr b="1"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Within a few seconds: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burger images appear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restaurant names are shown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prices and ratings are displayed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Then you click: </a:t>
            </a:r>
            <a:r>
              <a:rPr b="1" lang="en" sz="1100">
                <a:solidFill>
                  <a:schemeClr val="dk1"/>
                </a:solidFill>
              </a:rPr>
              <a:t>Order Now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And after some time: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restaurant receives your order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delivery partner gets notification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food starts preparing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order tracking appears on your screen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Now think carefully</a:t>
            </a:r>
            <a:r>
              <a:rPr lang="en" sz="1100">
                <a:solidFill>
                  <a:schemeClr val="dk1"/>
                </a:solidFill>
              </a:rPr>
              <a:t> 🤔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Who searched all nearby restaurants?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Who fetched burger details?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Who created the order?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Who sent request to restaurant?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Who assigned delivery partner?</a:t>
            </a:r>
            <a:endParaRPr sz="1100"/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3227" y="1395350"/>
            <a:ext cx="3878474" cy="2592649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7500000" dist="571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6" name="Google Shape;106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576075" y="210300"/>
            <a:ext cx="7223700" cy="10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Have you ever ordered food online using Zomato or Swiggy?</a:t>
            </a:r>
            <a:endParaRPr b="1" sz="16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Come on… today let’s order a burger and understand what Controllers actually do inside backend applications.  😄 </a:t>
            </a:r>
            <a:endParaRPr b="1" sz="16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576900" y="1458300"/>
            <a:ext cx="39810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Frontend only shows information on screen.</a:t>
            </a:r>
            <a:endParaRPr b="1"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Just like in a restaurant:</a:t>
            </a:r>
            <a:endParaRPr sz="1100"/>
          </a:p>
          <a:p>
            <a:pPr indent="-1270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/>
              <a:t>waiter only takes your order</a:t>
            </a:r>
            <a:endParaRPr sz="1100"/>
          </a:p>
          <a:p>
            <a:pPr indent="-1270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/>
              <a:t>waiter sends request to kitchen</a:t>
            </a:r>
            <a:endParaRPr sz="11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The real work happens inside the kitchen.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Similarly in backend:</a:t>
            </a:r>
            <a:endParaRPr sz="1100">
              <a:solidFill>
                <a:schemeClr val="dk1"/>
              </a:solidFill>
            </a:endParaRPr>
          </a:p>
          <a:p>
            <a:pPr indent="-155575" lvl="0" marL="257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frontend sends request</a:t>
            </a:r>
            <a:endParaRPr sz="1100">
              <a:solidFill>
                <a:schemeClr val="dk1"/>
              </a:solidFill>
            </a:endParaRPr>
          </a:p>
          <a:p>
            <a:pPr indent="-155575" lvl="0" marL="257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routes receive request</a:t>
            </a:r>
            <a:endParaRPr sz="1100">
              <a:solidFill>
                <a:schemeClr val="dk1"/>
              </a:solidFill>
            </a:endParaRPr>
          </a:p>
          <a:p>
            <a:pPr indent="-155575" lvl="0" marL="257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But the real processing happens inside:  </a:t>
            </a:r>
            <a:r>
              <a:rPr b="1" lang="en" sz="1200">
                <a:solidFill>
                  <a:schemeClr val="dk1"/>
                </a:solidFill>
              </a:rPr>
              <a:t>Controllers 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That’s why controllers are called: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The Brain of Backend Applications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5100" y="1458300"/>
            <a:ext cx="4370863" cy="3052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ontroller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6" name="Google Shape;116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18"/>
          <p:cNvSpPr txBox="1"/>
          <p:nvPr/>
        </p:nvSpPr>
        <p:spPr>
          <a:xfrm>
            <a:off x="550975" y="1011575"/>
            <a:ext cx="46335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 </a:t>
            </a:r>
            <a:r>
              <a:rPr b="1" lang="en" sz="1100">
                <a:solidFill>
                  <a:schemeClr val="dk1"/>
                </a:solidFill>
              </a:rPr>
              <a:t>controller</a:t>
            </a:r>
            <a:r>
              <a:rPr lang="en" sz="1100">
                <a:solidFill>
                  <a:schemeClr val="dk1"/>
                </a:solidFill>
              </a:rPr>
              <a:t> is nothing but a </a:t>
            </a:r>
            <a:r>
              <a:rPr b="1" lang="en" sz="1100">
                <a:solidFill>
                  <a:schemeClr val="dk1"/>
                </a:solidFill>
              </a:rPr>
              <a:t>JavaScript function</a:t>
            </a:r>
            <a:r>
              <a:rPr lang="en" sz="1100">
                <a:solidFill>
                  <a:schemeClr val="dk1"/>
                </a:solidFill>
              </a:rPr>
              <a:t>. We already learned functions in JavaScript. In the backend, we use those same functions to handle application logic.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Controllers contain the main backend logic and handle requests coming from routes. 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Controllers are used to: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Process user requests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Write business logic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Perform CRUD operations with the database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Handle authentication and security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Send responses back to the client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19" name="Google Shape;1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8525" y="1011575"/>
            <a:ext cx="2609225" cy="3448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Controller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5" name="Google Shape;125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9"/>
          <p:cNvSpPr txBox="1"/>
          <p:nvPr/>
        </p:nvSpPr>
        <p:spPr>
          <a:xfrm>
            <a:off x="416850" y="1194075"/>
            <a:ext cx="5857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Come on! Today we are going to write</a:t>
            </a:r>
            <a:r>
              <a:rPr b="1" lang="en" sz="1300"/>
              <a:t> different controller functions and understand how business logic </a:t>
            </a:r>
            <a:r>
              <a:rPr lang="en" sz="1300"/>
              <a:t>is created in the backend. </a:t>
            </a:r>
            <a:endParaRPr b="1" sz="1300"/>
          </a:p>
        </p:txBody>
      </p:sp>
      <p:sp>
        <p:nvSpPr>
          <p:cNvPr id="128" name="Google Shape;128;p19"/>
          <p:cNvSpPr txBox="1"/>
          <p:nvPr/>
        </p:nvSpPr>
        <p:spPr>
          <a:xfrm>
            <a:off x="499450" y="21872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Logic 1 — Send Simple Response</a:t>
            </a:r>
            <a:r>
              <a:rPr lang="en"/>
              <a:t> </a:t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825" y="2587400"/>
            <a:ext cx="4552799" cy="120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 txBox="1"/>
          <p:nvPr/>
        </p:nvSpPr>
        <p:spPr>
          <a:xfrm>
            <a:off x="5826975" y="2633250"/>
            <a:ext cx="3000000" cy="1127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Concept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Controller Function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res.send()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Export Function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Controller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6" name="Google Shape;136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0"/>
          <p:cNvSpPr txBox="1"/>
          <p:nvPr/>
        </p:nvSpPr>
        <p:spPr>
          <a:xfrm>
            <a:off x="488450" y="10115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Logic 2 — Send Employee Object </a:t>
            </a:r>
            <a:endParaRPr b="1" sz="1200"/>
          </a:p>
        </p:txBody>
      </p:sp>
      <p:pic>
        <p:nvPicPr>
          <p:cNvPr id="139" name="Google Shape;13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350" y="1510100"/>
            <a:ext cx="3937650" cy="293365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 txBox="1"/>
          <p:nvPr/>
        </p:nvSpPr>
        <p:spPr>
          <a:xfrm>
            <a:off x="5423875" y="3511050"/>
            <a:ext cx="3000000" cy="93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Concept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Object Creation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Sending Data to Frontend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Controller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6" name="Google Shape;146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1"/>
          <p:cNvSpPr txBox="1"/>
          <p:nvPr/>
        </p:nvSpPr>
        <p:spPr>
          <a:xfrm>
            <a:off x="420600" y="10115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Logic 3 — Send Employee Array </a:t>
            </a:r>
            <a:endParaRPr b="1" sz="1200"/>
          </a:p>
        </p:txBody>
      </p:sp>
      <p:pic>
        <p:nvPicPr>
          <p:cNvPr id="149" name="Google Shape;14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75" y="1650325"/>
            <a:ext cx="3780850" cy="275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 txBox="1"/>
          <p:nvPr/>
        </p:nvSpPr>
        <p:spPr>
          <a:xfrm>
            <a:off x="5187300" y="3273250"/>
            <a:ext cx="3000000" cy="1127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Concept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Array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Multiple Records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API Response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Controller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6" name="Google Shape;156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22"/>
          <p:cNvSpPr txBox="1"/>
          <p:nvPr/>
        </p:nvSpPr>
        <p:spPr>
          <a:xfrm>
            <a:off x="446875" y="10115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Logic 4 — Total Employees Count </a:t>
            </a:r>
            <a:endParaRPr b="1" sz="1100"/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450" y="1591200"/>
            <a:ext cx="4376300" cy="25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 txBox="1"/>
          <p:nvPr/>
        </p:nvSpPr>
        <p:spPr>
          <a:xfrm>
            <a:off x="5616650" y="3167825"/>
            <a:ext cx="3000000" cy="93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Concept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length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Business Statistics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Controller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6" name="Google Shape;166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" name="Google Shape;168;p23"/>
          <p:cNvSpPr txBox="1"/>
          <p:nvPr/>
        </p:nvSpPr>
        <p:spPr>
          <a:xfrm>
            <a:off x="464425" y="10115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Logic 5 — First Employee Details </a:t>
            </a:r>
            <a:endParaRPr b="1" sz="1200"/>
          </a:p>
        </p:txBody>
      </p:sp>
      <p:pic>
        <p:nvPicPr>
          <p:cNvPr id="169" name="Google Shape;16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975" y="1454400"/>
            <a:ext cx="3953200" cy="252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3"/>
          <p:cNvSpPr txBox="1"/>
          <p:nvPr/>
        </p:nvSpPr>
        <p:spPr>
          <a:xfrm>
            <a:off x="5472450" y="3242050"/>
            <a:ext cx="3000000" cy="73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Concept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Array Indexing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Controller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6" name="Google Shape;176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24"/>
          <p:cNvSpPr txBox="1"/>
          <p:nvPr/>
        </p:nvSpPr>
        <p:spPr>
          <a:xfrm>
            <a:off x="429350" y="10115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Logic 6 — Find Employee by ID </a:t>
            </a:r>
            <a:endParaRPr b="1" sz="1200"/>
          </a:p>
        </p:txBody>
      </p:sp>
      <p:sp>
        <p:nvSpPr>
          <p:cNvPr id="179" name="Google Shape;179;p2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80" name="Google Shape;18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975" y="1559650"/>
            <a:ext cx="4086276" cy="31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4"/>
          <p:cNvSpPr txBox="1"/>
          <p:nvPr/>
        </p:nvSpPr>
        <p:spPr>
          <a:xfrm>
            <a:off x="5642950" y="3730525"/>
            <a:ext cx="3000000" cy="93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Concept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find()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Searching Data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Controller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7" name="Google Shape;187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25"/>
          <p:cNvSpPr txBox="1"/>
          <p:nvPr/>
        </p:nvSpPr>
        <p:spPr>
          <a:xfrm>
            <a:off x="411825" y="10115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Logic 7 — Filter IT Employees </a:t>
            </a:r>
            <a:endParaRPr b="1" sz="1200"/>
          </a:p>
        </p:txBody>
      </p:sp>
      <p:pic>
        <p:nvPicPr>
          <p:cNvPr id="190" name="Google Shape;19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375" y="1503550"/>
            <a:ext cx="4229224" cy="28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5"/>
          <p:cNvSpPr txBox="1"/>
          <p:nvPr/>
        </p:nvSpPr>
        <p:spPr>
          <a:xfrm>
            <a:off x="5380100" y="3467950"/>
            <a:ext cx="3000000" cy="93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Concept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filter()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Business Filtering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Controller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7" name="Google Shape;197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26"/>
          <p:cNvSpPr txBox="1"/>
          <p:nvPr/>
        </p:nvSpPr>
        <p:spPr>
          <a:xfrm>
            <a:off x="464400" y="9288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Logic 8 — Add New Employee </a:t>
            </a:r>
            <a:endParaRPr b="1" sz="1200"/>
          </a:p>
        </p:txBody>
      </p:sp>
      <p:pic>
        <p:nvPicPr>
          <p:cNvPr id="200" name="Google Shape;20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775" y="1440950"/>
            <a:ext cx="3724101" cy="297579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/>
        </p:nvSpPr>
        <p:spPr>
          <a:xfrm>
            <a:off x="5388850" y="3484050"/>
            <a:ext cx="3000000" cy="93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Concept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push()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Adding Data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133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Okay, we have created the controller function.</a:t>
            </a:r>
            <a:endParaRPr b="1" sz="2133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33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But how will this function run?  Who will tell Express when to execute this function? </a:t>
            </a:r>
            <a:endParaRPr b="1" sz="2133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7" name="Google Shape;207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9" name="Google Shape;209;p27" title="Man thinking-ami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58625" y="1778825"/>
            <a:ext cx="3346125" cy="26919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Route Connection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5" name="Google Shape;215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7" name="Google Shape;21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900" y="1011575"/>
            <a:ext cx="3503199" cy="15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8"/>
          <p:cNvSpPr txBox="1"/>
          <p:nvPr/>
        </p:nvSpPr>
        <p:spPr>
          <a:xfrm>
            <a:off x="5530200" y="1467050"/>
            <a:ext cx="2742300" cy="1049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function is sitting inside the controller file.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It will not run automatically.</a:t>
            </a:r>
            <a:endParaRPr/>
          </a:p>
        </p:txBody>
      </p:sp>
      <p:cxnSp>
        <p:nvCxnSpPr>
          <p:cNvPr id="219" name="Google Shape;219;p28"/>
          <p:cNvCxnSpPr>
            <a:stCxn id="218" idx="1"/>
          </p:cNvCxnSpPr>
          <p:nvPr/>
        </p:nvCxnSpPr>
        <p:spPr>
          <a:xfrm rot="10800000">
            <a:off x="3532200" y="1772000"/>
            <a:ext cx="1998000" cy="2199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28"/>
          <p:cNvSpPr txBox="1"/>
          <p:nvPr/>
        </p:nvSpPr>
        <p:spPr>
          <a:xfrm>
            <a:off x="526900" y="2902275"/>
            <a:ext cx="3503100" cy="1834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73034"/>
                </a:solidFill>
              </a:rPr>
              <a:t>Restaurant Analogy 🍔</a:t>
            </a:r>
            <a:endParaRPr b="1" sz="1200">
              <a:solidFill>
                <a:srgbClr val="17303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73034"/>
                </a:solidFill>
              </a:rPr>
              <a:t>Imagine a restaurant.</a:t>
            </a:r>
            <a:endParaRPr sz="1200">
              <a:solidFill>
                <a:srgbClr val="17303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73034"/>
                </a:solidFill>
              </a:rPr>
              <a:t>The chef is ready in the kitchen.</a:t>
            </a:r>
            <a:endParaRPr sz="1200">
              <a:solidFill>
                <a:srgbClr val="17303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73034"/>
                </a:solidFill>
              </a:rPr>
              <a:t>But does the chef start cooking automatically?</a:t>
            </a:r>
            <a:endParaRPr sz="1200">
              <a:solidFill>
                <a:srgbClr val="17303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173034"/>
                </a:solidFill>
              </a:rPr>
              <a:t>❌ No</a:t>
            </a:r>
            <a:endParaRPr sz="1200">
              <a:solidFill>
                <a:srgbClr val="173034"/>
              </a:solidFill>
            </a:endParaRPr>
          </a:p>
        </p:txBody>
      </p:sp>
      <p:sp>
        <p:nvSpPr>
          <p:cNvPr id="221" name="Google Shape;221;p28"/>
          <p:cNvSpPr txBox="1"/>
          <p:nvPr/>
        </p:nvSpPr>
        <p:spPr>
          <a:xfrm>
            <a:off x="5401350" y="3037875"/>
            <a:ext cx="3000000" cy="1699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First: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customer places order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waiter receives order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waiter sends order to chef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Then chef starts cooking.</a:t>
            </a:r>
            <a:endParaRPr/>
          </a:p>
        </p:txBody>
      </p:sp>
      <p:cxnSp>
        <p:nvCxnSpPr>
          <p:cNvPr id="222" name="Google Shape;222;p28"/>
          <p:cNvCxnSpPr>
            <a:stCxn id="220" idx="3"/>
            <a:endCxn id="221" idx="1"/>
          </p:cNvCxnSpPr>
          <p:nvPr/>
        </p:nvCxnSpPr>
        <p:spPr>
          <a:xfrm>
            <a:off x="4030000" y="3819675"/>
            <a:ext cx="1371300" cy="6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Route Connection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8" name="Google Shape;228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0" name="Google Shape;23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8175" y="903300"/>
            <a:ext cx="6079127" cy="40527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Route Connection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6" name="Google Shape;236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8" name="Google Shape;238;p30"/>
          <p:cNvSpPr txBox="1"/>
          <p:nvPr/>
        </p:nvSpPr>
        <p:spPr>
          <a:xfrm>
            <a:off x="604600" y="1119625"/>
            <a:ext cx="6555300" cy="3378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What Does Route Do?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Route acts like a bridge between: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When frontend sends request: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GET /employees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Route receives it and says: 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239" name="Google Shape;239;p30"/>
          <p:cNvSpPr txBox="1"/>
          <p:nvPr/>
        </p:nvSpPr>
        <p:spPr>
          <a:xfrm>
            <a:off x="1046125" y="1937700"/>
            <a:ext cx="2284500" cy="12681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    </a:t>
            </a:r>
            <a:r>
              <a:rPr b="1" lang="en">
                <a:solidFill>
                  <a:schemeClr val="dk1"/>
                </a:solidFill>
              </a:rPr>
              <a:t>Frontend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     ↓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     Route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     ↓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    Controller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0" name="Google Shape;240;p30"/>
          <p:cNvSpPr txBox="1"/>
          <p:nvPr/>
        </p:nvSpPr>
        <p:spPr>
          <a:xfrm>
            <a:off x="2489500" y="3997575"/>
            <a:ext cx="3846600" cy="393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“Hey Controller, it's your turn. Execute this function.”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Route Connection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6" name="Google Shape;246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8" name="Google Shape;248;p31"/>
          <p:cNvSpPr txBox="1"/>
          <p:nvPr/>
        </p:nvSpPr>
        <p:spPr>
          <a:xfrm>
            <a:off x="490675" y="8450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</a:t>
            </a:r>
            <a:r>
              <a:rPr b="1" lang="en"/>
              <a:t>Route Connection </a:t>
            </a:r>
            <a:endParaRPr b="1"/>
          </a:p>
        </p:txBody>
      </p:sp>
      <p:pic>
        <p:nvPicPr>
          <p:cNvPr id="249" name="Google Shape;24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000" y="1245275"/>
            <a:ext cx="2873875" cy="123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000" y="2716425"/>
            <a:ext cx="6083649" cy="209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1"/>
          <p:cNvSpPr txBox="1"/>
          <p:nvPr/>
        </p:nvSpPr>
        <p:spPr>
          <a:xfrm>
            <a:off x="4294525" y="951125"/>
            <a:ext cx="3382200" cy="147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Routes </a:t>
            </a:r>
            <a:r>
              <a:rPr lang="en"/>
              <a:t>are responsible for executing controller functions when a request comes from the frontend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Controllers contain the logic, but </a:t>
            </a:r>
            <a:r>
              <a:rPr b="1" lang="en"/>
              <a:t>Routes decide </a:t>
            </a:r>
            <a:r>
              <a:rPr lang="en"/>
              <a:t>when that logic should run.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7" name="Google Shape;257;p3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2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MVC Architecture, what is the primary responsibility of a Controller?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9" name="Google Shape;259;p32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Store data in database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Design frontend UI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Handle backend logic and process requests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Create project folders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0" name="Google Shape;260;p32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32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1100">
                <a:solidFill>
                  <a:schemeClr val="dk1"/>
                </a:solidFill>
              </a:rPr>
              <a:t>C. Handle backend logic and process requests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63" name="Google Shape;263;p32"/>
          <p:cNvGrpSpPr/>
          <p:nvPr/>
        </p:nvGrpSpPr>
        <p:grpSpPr>
          <a:xfrm>
            <a:off x="310900" y="3959263"/>
            <a:ext cx="6005825" cy="1245913"/>
            <a:chOff x="310900" y="3959263"/>
            <a:chExt cx="6005825" cy="1245913"/>
          </a:xfrm>
        </p:grpSpPr>
        <p:sp>
          <p:nvSpPr>
            <p:cNvPr id="264" name="Google Shape;264;p32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65" name="Google Shape;265;p32"/>
            <p:cNvSpPr txBox="1"/>
            <p:nvPr/>
          </p:nvSpPr>
          <p:spPr>
            <a:xfrm>
              <a:off x="1607925" y="3959275"/>
              <a:ext cx="4708800" cy="12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Controllers contain the actual backend logic. They process requests, perform operations, prepare responses, send data back to frontend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</a:rPr>
                <a:t>That's why Controllers are called the </a:t>
              </a:r>
              <a:r>
                <a:rPr b="1" lang="en" sz="1100">
                  <a:solidFill>
                    <a:schemeClr val="dk1"/>
                  </a:solidFill>
                </a:rPr>
                <a:t>Brain of Backend Applications</a:t>
              </a:r>
              <a:r>
                <a:rPr lang="en" sz="1100">
                  <a:solidFill>
                    <a:schemeClr val="dk1"/>
                  </a:solidFill>
                </a:rPr>
                <a:t>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1" name="Google Shape;271;p3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3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</a:t>
            </a:r>
            <a:r>
              <a:rPr b="1" lang="en" sz="1100">
                <a:solidFill>
                  <a:schemeClr val="dk1"/>
                </a:solidFill>
              </a:rPr>
              <a:t>Suppose a controller function is created, but no route is connected to it. What will happen?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3" name="Google Shape;273;p33"/>
          <p:cNvSpPr txBox="1"/>
          <p:nvPr/>
        </p:nvSpPr>
        <p:spPr>
          <a:xfrm>
            <a:off x="310900" y="1748350"/>
            <a:ext cx="8084700" cy="1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Function will run automatically</a:t>
            </a:r>
            <a:b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		B. Function will run after server starts</a:t>
            </a:r>
            <a:b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		C. Function will never execute until a route calls it</a:t>
            </a:r>
            <a:b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		D. Express will throw an error immediately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4" name="Google Shape;274;p3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33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1100">
                <a:solidFill>
                  <a:schemeClr val="dk1"/>
                </a:solidFill>
              </a:rPr>
              <a:t>C. Function will never execute until a route calls it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77" name="Google Shape;277;p33"/>
          <p:cNvGrpSpPr/>
          <p:nvPr/>
        </p:nvGrpSpPr>
        <p:grpSpPr>
          <a:xfrm>
            <a:off x="310900" y="3959263"/>
            <a:ext cx="6005825" cy="1245913"/>
            <a:chOff x="310900" y="3959263"/>
            <a:chExt cx="6005825" cy="1245913"/>
          </a:xfrm>
        </p:grpSpPr>
        <p:sp>
          <p:nvSpPr>
            <p:cNvPr id="278" name="Google Shape;278;p33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79" name="Google Shape;279;p33"/>
            <p:cNvSpPr txBox="1"/>
            <p:nvPr/>
          </p:nvSpPr>
          <p:spPr>
            <a:xfrm>
              <a:off x="1607925" y="3959275"/>
              <a:ext cx="4708800" cy="12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Controllers only contain logic.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Routes are responsible for executing controller functions when requests arrive from the frontend.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5" name="Google Shape;285;p3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4"/>
          <p:cNvSpPr txBox="1"/>
          <p:nvPr/>
        </p:nvSpPr>
        <p:spPr>
          <a:xfrm>
            <a:off x="310900" y="1228825"/>
            <a:ext cx="816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Which JavaScript method is commonly used to find a specific employee from an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array?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7" name="Google Shape;287;p34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push()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filter()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find()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length()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8" name="Google Shape;288;p34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34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find()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91" name="Google Shape;291;p34"/>
          <p:cNvGrpSpPr/>
          <p:nvPr/>
        </p:nvGrpSpPr>
        <p:grpSpPr>
          <a:xfrm>
            <a:off x="310900" y="3959263"/>
            <a:ext cx="6005825" cy="400200"/>
            <a:chOff x="310900" y="3959263"/>
            <a:chExt cx="6005825" cy="400200"/>
          </a:xfrm>
        </p:grpSpPr>
        <p:sp>
          <p:nvSpPr>
            <p:cNvPr id="292" name="Google Shape;292;p34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93" name="Google Shape;293;p34"/>
            <p:cNvSpPr txBox="1"/>
            <p:nvPr/>
          </p:nvSpPr>
          <p:spPr>
            <a:xfrm>
              <a:off x="1607925" y="3959275"/>
              <a:ext cx="47088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find()</a:t>
              </a:r>
              <a:r>
                <a:rPr lang="en" sz="1100">
                  <a:solidFill>
                    <a:schemeClr val="dk1"/>
                  </a:solidFill>
                </a:rPr>
                <a:t> is used to search and return the first matching record. </a:t>
              </a:r>
              <a:endParaRPr b="1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5"/>
          <p:cNvSpPr txBox="1"/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9" name="Google Shape;299;p3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chemeClr val="dk1"/>
                </a:solidFill>
              </a:rPr>
              <a:t>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Express Js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https://developer.mozilla.org/en-US/docs/Learn_web_development/Extensions/Server-side/Express_Nodejs</a:t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express tutorials with examples and interactive editors.</a:t>
            </a:r>
            <a:b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https://www.w3schools.com/nodejs/nodejs_express.asp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Express Official-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tutorial-style website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covers core Express JS concepts in depth.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https://expressjs.com/en/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1" name="Google Shape;30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6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88813" y="38601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307" name="Google Shape;307;p36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6"/>
          <p:cNvSpPr txBox="1"/>
          <p:nvPr/>
        </p:nvSpPr>
        <p:spPr>
          <a:xfrm>
            <a:off x="4281700" y="2020825"/>
            <a:ext cx="47619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309" name="Google Shape;309;p36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310" name="Google Shape;310;p36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311" name="Google Shape;311;p36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6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313" name="Google Shape;313;p36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6"/>
          <p:cNvSpPr txBox="1"/>
          <p:nvPr>
            <p:ph idx="12" type="sldNum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5" name="Google Shape;315;p36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6" name="Google Shape;316;p36" title="Programming-bro.png"/>
          <p:cNvPicPr preferRelativeResize="0"/>
          <p:nvPr/>
        </p:nvPicPr>
        <p:blipFill rotWithShape="1">
          <a:blip r:embed="rId7">
            <a:alphaModFix/>
          </a:blip>
          <a:srcRect b="0" l="7673" r="9194" t="12034"/>
          <a:stretch/>
        </p:blipFill>
        <p:spPr>
          <a:xfrm>
            <a:off x="5235463" y="2773850"/>
            <a:ext cx="2892375" cy="20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