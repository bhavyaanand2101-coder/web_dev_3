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Roboto Slab"/>
      <p:regular r:id="rId32"/>
      <p:bold r:id="rId33"/>
    </p:embeddedFont>
    <p:embeddedFont>
      <p:font typeface="Poppins"/>
      <p:regular r:id="rId34"/>
      <p:bold r:id="rId35"/>
      <p:italic r:id="rId36"/>
      <p:boldItalic r:id="rId37"/>
    </p:embeddedFont>
    <p:embeddedFont>
      <p:font typeface="Roboto Mon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4CDD20-C031-499E-9082-5857460B54BA}">
  <a:tblStyle styleId="{354CDD20-C031-499E-9082-5857460B54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942AB80-48FD-476D-BB19-45E45A5FFD1E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20" Type="http://schemas.openxmlformats.org/officeDocument/2006/relationships/slide" Target="slides/slide14.xml"/><Relationship Id="rId41" Type="http://schemas.openxmlformats.org/officeDocument/2006/relationships/font" Target="fonts/RobotoMono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Slab-bold.fntdata"/><Relationship Id="rId10" Type="http://schemas.openxmlformats.org/officeDocument/2006/relationships/slide" Target="slides/slide4.xml"/><Relationship Id="rId32" Type="http://schemas.openxmlformats.org/officeDocument/2006/relationships/font" Target="fonts/RobotoSlab-regular.fntdata"/><Relationship Id="rId13" Type="http://schemas.openxmlformats.org/officeDocument/2006/relationships/slide" Target="slides/slide7.xml"/><Relationship Id="rId35" Type="http://schemas.openxmlformats.org/officeDocument/2006/relationships/font" Target="fonts/Poppins-bold.fntdata"/><Relationship Id="rId12" Type="http://schemas.openxmlformats.org/officeDocument/2006/relationships/slide" Target="slides/slide6.xml"/><Relationship Id="rId34" Type="http://schemas.openxmlformats.org/officeDocument/2006/relationships/font" Target="fonts/Poppins-regular.fntdata"/><Relationship Id="rId15" Type="http://schemas.openxmlformats.org/officeDocument/2006/relationships/slide" Target="slides/slide9.xml"/><Relationship Id="rId37" Type="http://schemas.openxmlformats.org/officeDocument/2006/relationships/font" Target="fonts/Poppins-boldItalic.fntdata"/><Relationship Id="rId14" Type="http://schemas.openxmlformats.org/officeDocument/2006/relationships/slide" Target="slides/slide8.xml"/><Relationship Id="rId36" Type="http://schemas.openxmlformats.org/officeDocument/2006/relationships/font" Target="fonts/Poppins-italic.fntdata"/><Relationship Id="rId17" Type="http://schemas.openxmlformats.org/officeDocument/2006/relationships/slide" Target="slides/slide11.xml"/><Relationship Id="rId39" Type="http://schemas.openxmlformats.org/officeDocument/2006/relationships/font" Target="fonts/RobotoMono-bold.fntdata"/><Relationship Id="rId16" Type="http://schemas.openxmlformats.org/officeDocument/2006/relationships/slide" Target="slides/slide10.xml"/><Relationship Id="rId38" Type="http://schemas.openxmlformats.org/officeDocument/2006/relationships/font" Target="fonts/RobotoMono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93fc715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93fc715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93fc7151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93fc7151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93fc7151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93fc7151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2dc86f04f_5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2dc86f04f_5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940255ce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940255ce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32c013f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32c013f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2dc86f04f_5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2dc86f04f_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32c013f0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32c013f0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32c013f0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32c013f0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2dc86f04f_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2dc86f04f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32c013f0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32c013f0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32c013f05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32c013f0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472fbb24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e472fbb24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2dc86f04f_5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e2dc86f04f_5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32c013f05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32c013f05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32c013f05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e32c013f05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32c013f05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e32c013f05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32c013f05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e32c013f05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32c013f05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e32c013f05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e32c013f05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e32c013f05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32c013f05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e32c013f05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32c013f05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e32c013f05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e93fc7151a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e93fc7151a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e93fc7151a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e93fc7151a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4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5.gif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hyperlink" Target="https://developer.mozilla.org/en-US/docs/Learn_web_development/Extensions/Server-side/Express_Nodejs" TargetMode="External"/><Relationship Id="rId5" Type="http://schemas.openxmlformats.org/officeDocument/2006/relationships/hyperlink" Target="https://www.w3schools.com/nodejs/nodejs_express.asp" TargetMode="External"/><Relationship Id="rId6" Type="http://schemas.openxmlformats.org/officeDocument/2006/relationships/hyperlink" Target="https://expressjs.com/en/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8876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247500" y="2017650"/>
            <a:ext cx="47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4" name="Google Shape;64;p13"/>
          <p:cNvGrpSpPr/>
          <p:nvPr/>
        </p:nvGrpSpPr>
        <p:grpSpPr>
          <a:xfrm>
            <a:off x="309849" y="1233369"/>
            <a:ext cx="3415942" cy="2387863"/>
            <a:chOff x="788865" y="1515488"/>
            <a:chExt cx="4594407" cy="2387863"/>
          </a:xfrm>
        </p:grpSpPr>
        <p:sp>
          <p:nvSpPr>
            <p:cNvPr id="65" name="Google Shape;65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9</a:t>
              </a:r>
              <a:r>
                <a:rPr lang="en" sz="2700">
                  <a:solidFill>
                    <a:schemeClr val="lt1"/>
                  </a:solidFill>
                </a:rPr>
                <a:t>:</a:t>
              </a:r>
              <a:endParaRPr sz="2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6" name="Google Shape;66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90272" y="2145213"/>
              <a:ext cx="4593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</a:rPr>
                <a:t>Introduction to Express.js</a:t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Pratik Raj Verma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69" name="Google Shape;69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0125" y="3941879"/>
            <a:ext cx="548701" cy="3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96925" y="3941876"/>
            <a:ext cx="379415" cy="3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 title="Programming-bro.png"/>
          <p:cNvPicPr preferRelativeResize="0"/>
          <p:nvPr/>
        </p:nvPicPr>
        <p:blipFill rotWithShape="1">
          <a:blip r:embed="rId9">
            <a:alphaModFix/>
          </a:blip>
          <a:srcRect b="0" l="7673" r="9194" t="12034"/>
          <a:stretch/>
        </p:blipFill>
        <p:spPr>
          <a:xfrm>
            <a:off x="5235463" y="2773850"/>
            <a:ext cx="2892375" cy="20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Express.js 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Express vs HTTP module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Creating server</a:t>
            </a:r>
            <a:endParaRPr sz="1300">
              <a:solidFill>
                <a:srgbClr val="273239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00"/>
              <a:buChar char="●"/>
            </a:pPr>
            <a:r>
              <a:rPr lang="en" sz="1300">
                <a:solidFill>
                  <a:srgbClr val="273239"/>
                </a:solidFill>
              </a:rPr>
              <a:t>References.</a:t>
            </a:r>
            <a:endParaRPr sz="1300">
              <a:solidFill>
                <a:srgbClr val="273239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00"/>
              <a:buChar char="●"/>
            </a:pPr>
            <a:r>
              <a:rPr lang="en" sz="1300">
                <a:solidFill>
                  <a:srgbClr val="273239"/>
                </a:solidFill>
              </a:rPr>
              <a:t>The End.</a:t>
            </a:r>
            <a:endParaRPr sz="1300">
              <a:solidFill>
                <a:srgbClr val="273239"/>
              </a:solidFill>
            </a:endParaRPr>
          </a:p>
        </p:txBody>
      </p:sp>
      <p:sp>
        <p:nvSpPr>
          <p:cNvPr id="77" name="Google Shape;77;p1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8" name="Google Shape;78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noticed where YouTube videos actually come from, how a WhatsApp message instantly reaches another person’s phone, or where the data goes when we upload a photo on Instagram?</a:t>
            </a:r>
            <a:endParaRPr b="1" sz="16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5" title="Man thinking-ami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2475" y="2176025"/>
            <a:ext cx="3444900" cy="277135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  <p:pic>
        <p:nvPicPr>
          <p:cNvPr id="89" name="Google Shape;8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7405">
            <a:off x="7119286" y="1281147"/>
            <a:ext cx="1352428" cy="1221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075" y="2442910"/>
            <a:ext cx="1875799" cy="125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80775" y="3227332"/>
            <a:ext cx="1875800" cy="1271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noticed where YouTube videos actually come from, how a WhatsApp message instantly reaches another person’s phone, or where the data goes when we upload a photo on Instagram? </a:t>
            </a:r>
            <a:endParaRPr b="1" sz="16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576075" y="1458300"/>
            <a:ext cx="67356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All these things happen with the help of a </a:t>
            </a:r>
            <a:r>
              <a:rPr b="1" lang="en" sz="1100">
                <a:solidFill>
                  <a:schemeClr val="dk1"/>
                </a:solidFill>
              </a:rPr>
              <a:t>Backend Server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When you open Instagram, the frontend (the app you can see) sends a request to a server.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That server finds data from the database and sends it back.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699375" y="2400750"/>
            <a:ext cx="64890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Example:</a:t>
            </a:r>
            <a:endParaRPr sz="11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Instagram → sends request for posts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Server → fetches posts from database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Database → returns data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Server → sends response to app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App → shows posts on screen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Same thing happens everywhere: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Login verification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Sending messages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Uploading photos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Watching YouTube videos</a:t>
            </a:r>
            <a:endParaRPr sz="12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Express Js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7" name="Google Shape;107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311700" y="978075"/>
            <a:ext cx="6138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So today we are going to study the technology that helps us create these </a:t>
            </a:r>
            <a:r>
              <a:rPr b="1" lang="en" sz="1100">
                <a:solidFill>
                  <a:schemeClr val="dk1"/>
                </a:solidFill>
              </a:rPr>
              <a:t>backend servers.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And that technology is called…  </a:t>
            </a:r>
            <a:r>
              <a:rPr b="1" lang="en">
                <a:solidFill>
                  <a:schemeClr val="dk1"/>
                </a:solidFill>
              </a:rPr>
              <a:t>Express.js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311700" y="1641525"/>
            <a:ext cx="620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Express.js is a fast, lightweight, and flexible web framework for Node.js that helps developers build web applications, APIs, and backend servers easily. </a:t>
            </a:r>
            <a:endParaRPr sz="1100"/>
          </a:p>
        </p:txBody>
      </p:sp>
      <p:sp>
        <p:nvSpPr>
          <p:cNvPr id="111" name="Google Shape;111;p17"/>
          <p:cNvSpPr txBox="1"/>
          <p:nvPr/>
        </p:nvSpPr>
        <p:spPr>
          <a:xfrm>
            <a:off x="376200" y="2390450"/>
            <a:ext cx="6983400" cy="14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It provides many important features such as: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Routing</a:t>
            </a:r>
            <a:r>
              <a:rPr lang="en" sz="1100">
                <a:solidFill>
                  <a:schemeClr val="dk1"/>
                </a:solidFill>
              </a:rPr>
              <a:t> → Helps define different URLs like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/login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/signup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/profile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Middleware</a:t>
            </a:r>
            <a:r>
              <a:rPr lang="en" sz="1100">
                <a:solidFill>
                  <a:schemeClr val="dk1"/>
                </a:solidFill>
              </a:rPr>
              <a:t> → Allows us to run functions between request and response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Request &amp; Response Handling</a:t>
            </a:r>
            <a:r>
              <a:rPr lang="en" sz="1100">
                <a:solidFill>
                  <a:schemeClr val="dk1"/>
                </a:solidFill>
              </a:rPr>
              <a:t> → Makes it easy to access user data and send responses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REST APIs</a:t>
            </a:r>
            <a:r>
              <a:rPr lang="en" sz="1100">
                <a:solidFill>
                  <a:schemeClr val="dk1"/>
                </a:solidFill>
              </a:rPr>
              <a:t> → Helps create APIs for frontend and mobile applications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Integration with Databases</a:t>
            </a:r>
            <a:r>
              <a:rPr lang="en" sz="1100">
                <a:solidFill>
                  <a:schemeClr val="dk1"/>
                </a:solidFill>
              </a:rPr>
              <a:t> → Easily connects with databases like MongoDB or MySQL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7" name="Google Shape;117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18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If we can already create servers using Node.js HTTP module, then why do developers still prefer Express.js?    What problems was Express trying to solve.</a:t>
            </a:r>
            <a:endParaRPr b="1" sz="16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0" name="Google Shape;120;p18" title="Man thinking-ami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2475" y="2176025"/>
            <a:ext cx="3444900" cy="277135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Express vs HTTP module</a:t>
            </a:r>
            <a:r>
              <a:rPr lang="en" sz="1300"/>
              <a:t>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6" name="Google Shape;126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19"/>
          <p:cNvSpPr txBox="1"/>
          <p:nvPr/>
        </p:nvSpPr>
        <p:spPr>
          <a:xfrm>
            <a:off x="526675" y="1011575"/>
            <a:ext cx="492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Why Use Express.js Over Node HTTP Module?</a:t>
            </a:r>
            <a:r>
              <a:rPr lang="en"/>
              <a:t> </a:t>
            </a: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615600" y="1525275"/>
            <a:ext cx="6504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Node.js HTTP module can already create servers, but </a:t>
            </a:r>
            <a:r>
              <a:rPr b="1" lang="en"/>
              <a:t>it requires more manual setup and extra code.</a:t>
            </a:r>
            <a:r>
              <a:rPr lang="en"/>
              <a:t> As projects grow larger, handling routes, requests, responses, and APIs using only the HTTP module becomes difficult and messy. </a:t>
            </a:r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615600" y="2470075"/>
            <a:ext cx="6299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Express.js simplifies backend development by reducing boilerplate code and providing built-in features like routing, middleware, and easier request handling.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Express vs HTTP module</a:t>
            </a:r>
            <a:r>
              <a:rPr lang="en" sz="1300"/>
              <a:t>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6" name="Google Shape;136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075" y="922675"/>
            <a:ext cx="3562726" cy="272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 txBox="1"/>
          <p:nvPr/>
        </p:nvSpPr>
        <p:spPr>
          <a:xfrm>
            <a:off x="593063" y="3700300"/>
            <a:ext cx="3000000" cy="13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Problem: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Manual routing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Manual method checking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More boilerplate code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Hard to manage in large projects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7150" y="2751075"/>
            <a:ext cx="1912150" cy="191215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040000" dist="85725">
              <a:srgbClr val="000000">
                <a:alpha val="15000"/>
              </a:srgbClr>
            </a:outerShdw>
          </a:effectLst>
        </p:spPr>
      </p:pic>
      <p:sp>
        <p:nvSpPr>
          <p:cNvPr id="141" name="Google Shape;141;p20"/>
          <p:cNvSpPr/>
          <p:nvPr/>
        </p:nvSpPr>
        <p:spPr>
          <a:xfrm>
            <a:off x="5506675" y="1251013"/>
            <a:ext cx="3202500" cy="12606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Right now, backend development using the HTTP module may look difficult and confusing because we are handling everything manually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Express vs HTTP module</a:t>
            </a:r>
            <a:r>
              <a:rPr lang="en" sz="1300"/>
              <a:t>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521675" y="1011575"/>
            <a:ext cx="5463300" cy="21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But here’s the exciting part 👀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Now we are going to learn </a:t>
            </a:r>
            <a:r>
              <a:rPr b="1" lang="en" sz="1100">
                <a:solidFill>
                  <a:schemeClr val="dk1"/>
                </a:solidFill>
              </a:rPr>
              <a:t>Express.js</a:t>
            </a:r>
            <a:r>
              <a:rPr lang="en" sz="1100">
                <a:solidFill>
                  <a:schemeClr val="dk1"/>
                </a:solidFill>
              </a:rPr>
              <a:t>, which makes backend development much simpler, cleaner, and faster. The same server that looks lengthy and complex right now can be built in a much easier way using Express.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Once you understand Express.js properly, your fear of backend development will start disappearing, and creating APIs and servers will begin to feel much more natural and interesting.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50" name="Google Shape;15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1275" y="2617775"/>
            <a:ext cx="188991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Installing Express</a:t>
            </a:r>
            <a:r>
              <a:rPr b="1" lang="en" sz="2300"/>
              <a:t>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6" name="Google Shape;156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22"/>
          <p:cNvSpPr txBox="1"/>
          <p:nvPr/>
        </p:nvSpPr>
        <p:spPr>
          <a:xfrm>
            <a:off x="449225" y="785950"/>
            <a:ext cx="471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 we are going to install Express.js inside our project and create our first backend setup. </a:t>
            </a:r>
            <a:endParaRPr/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4525" y="1526900"/>
            <a:ext cx="2704950" cy="2704950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7200000" dist="28575">
              <a:srgbClr val="000000">
                <a:alpha val="50000"/>
              </a:srgbClr>
            </a:outerShdw>
          </a:effectLst>
        </p:spPr>
      </p:pic>
      <p:sp>
        <p:nvSpPr>
          <p:cNvPr id="160" name="Google Shape;160;p22"/>
          <p:cNvSpPr txBox="1"/>
          <p:nvPr/>
        </p:nvSpPr>
        <p:spPr>
          <a:xfrm>
            <a:off x="449225" y="1401550"/>
            <a:ext cx="37533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Step 1 — Create Project Folder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Open terminal and run: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61" name="Google Shape;16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7700" y="2104150"/>
            <a:ext cx="12954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/>
          <p:nvPr/>
        </p:nvSpPr>
        <p:spPr>
          <a:xfrm>
            <a:off x="594150" y="2872425"/>
            <a:ext cx="42603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Explanation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mkdir</a:t>
            </a:r>
            <a:r>
              <a:rPr lang="en" sz="1100">
                <a:solidFill>
                  <a:schemeClr val="dk1"/>
                </a:solidFill>
              </a:rPr>
              <a:t> means → make directory/folder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backend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is the project folder name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449225" y="36965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Now move inside the folder: </a:t>
            </a:r>
            <a:endParaRPr sz="1100"/>
          </a:p>
        </p:txBody>
      </p:sp>
      <p:pic>
        <p:nvPicPr>
          <p:cNvPr id="164" name="Google Shape;16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7700" y="4130550"/>
            <a:ext cx="1295400" cy="659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Installing Express</a:t>
            </a:r>
            <a:r>
              <a:rPr b="1" lang="en" sz="2300"/>
              <a:t>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0" name="Google Shape;170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p23"/>
          <p:cNvSpPr txBox="1"/>
          <p:nvPr/>
        </p:nvSpPr>
        <p:spPr>
          <a:xfrm>
            <a:off x="442000" y="785938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Step 2 — Open Project in VS Code </a:t>
            </a:r>
            <a:endParaRPr b="1" sz="1100"/>
          </a:p>
        </p:txBody>
      </p:sp>
      <p:pic>
        <p:nvPicPr>
          <p:cNvPr id="173" name="Google Shape;17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3950" y="1252750"/>
            <a:ext cx="13335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3"/>
          <p:cNvSpPr txBox="1"/>
          <p:nvPr/>
        </p:nvSpPr>
        <p:spPr>
          <a:xfrm>
            <a:off x="659375" y="1937675"/>
            <a:ext cx="44706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Explanation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code .</a:t>
            </a:r>
            <a:r>
              <a:rPr lang="en" sz="1100">
                <a:solidFill>
                  <a:schemeClr val="dk1"/>
                </a:solidFill>
              </a:rPr>
              <a:t> opens the current folder in VS Code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" sz="1100">
                <a:solidFill>
                  <a:schemeClr val="dk1"/>
                </a:solidFill>
              </a:rPr>
              <a:t> means current directory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442000" y="28349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Step 3 — Initialize Node Project </a:t>
            </a:r>
            <a:endParaRPr b="1" sz="1100"/>
          </a:p>
        </p:txBody>
      </p:sp>
      <p:pic>
        <p:nvPicPr>
          <p:cNvPr id="176" name="Google Shape;17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1600" y="3253825"/>
            <a:ext cx="91440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3"/>
          <p:cNvSpPr/>
          <p:nvPr/>
        </p:nvSpPr>
        <p:spPr>
          <a:xfrm>
            <a:off x="5535725" y="1789675"/>
            <a:ext cx="2891100" cy="121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73034"/>
                </a:solidFill>
              </a:rPr>
              <a:t>What is npm?</a:t>
            </a:r>
            <a:endParaRPr b="1" sz="1100">
              <a:solidFill>
                <a:srgbClr val="17303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73034"/>
                </a:solidFill>
                <a:latin typeface="Roboto Mono"/>
                <a:ea typeface="Roboto Mono"/>
                <a:cs typeface="Roboto Mono"/>
                <a:sym typeface="Roboto Mono"/>
              </a:rPr>
              <a:t>npm</a:t>
            </a:r>
            <a:r>
              <a:rPr lang="en" sz="1100">
                <a:solidFill>
                  <a:srgbClr val="173034"/>
                </a:solidFill>
              </a:rPr>
              <a:t> stands for:</a:t>
            </a:r>
            <a:endParaRPr sz="1100">
              <a:solidFill>
                <a:srgbClr val="17303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73034"/>
                </a:solidFill>
              </a:rPr>
              <a:t>Node Package Manager</a:t>
            </a:r>
            <a:endParaRPr b="1" sz="1100">
              <a:solidFill>
                <a:srgbClr val="17303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73034"/>
                </a:solidFill>
              </a:rPr>
              <a:t>It is used to:</a:t>
            </a:r>
            <a:endParaRPr sz="1100">
              <a:solidFill>
                <a:srgbClr val="173034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73034"/>
              </a:buClr>
              <a:buSzPts val="1100"/>
              <a:buChar char="●"/>
            </a:pPr>
            <a:r>
              <a:rPr lang="en" sz="1100">
                <a:solidFill>
                  <a:srgbClr val="173034"/>
                </a:solidFill>
              </a:rPr>
              <a:t>install packages</a:t>
            </a:r>
            <a:endParaRPr sz="1100">
              <a:solidFill>
                <a:srgbClr val="173034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73034"/>
              </a:buClr>
              <a:buSzPts val="1100"/>
              <a:buChar char="●"/>
            </a:pPr>
            <a:r>
              <a:rPr lang="en" sz="1100">
                <a:solidFill>
                  <a:srgbClr val="173034"/>
                </a:solidFill>
              </a:rPr>
              <a:t>manage dependencies</a:t>
            </a:r>
            <a:endParaRPr sz="1100">
              <a:solidFill>
                <a:srgbClr val="173034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73034"/>
              </a:buClr>
              <a:buSzPts val="1100"/>
              <a:buChar char="●"/>
            </a:pPr>
            <a:r>
              <a:rPr lang="en" sz="1100">
                <a:solidFill>
                  <a:srgbClr val="173034"/>
                </a:solidFill>
              </a:rPr>
              <a:t>handle project libraries</a:t>
            </a:r>
            <a:endParaRPr/>
          </a:p>
        </p:txBody>
      </p:sp>
      <p:sp>
        <p:nvSpPr>
          <p:cNvPr id="178" name="Google Shape;178;p23"/>
          <p:cNvSpPr txBox="1"/>
          <p:nvPr/>
        </p:nvSpPr>
        <p:spPr>
          <a:xfrm>
            <a:off x="797025" y="3948150"/>
            <a:ext cx="45504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Explanation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npm init -y</a:t>
            </a:r>
            <a:endParaRPr b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This command creates a Node.js project automatically.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Installing Express</a:t>
            </a:r>
            <a:r>
              <a:rPr b="1" lang="en" sz="2300"/>
              <a:t>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4" name="Google Shape;184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4"/>
          <p:cNvSpPr txBox="1"/>
          <p:nvPr/>
        </p:nvSpPr>
        <p:spPr>
          <a:xfrm>
            <a:off x="753525" y="8622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It generates: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   </a:t>
            </a:r>
            <a:r>
              <a:rPr lang="en" sz="1100"/>
              <a:t>package.json</a:t>
            </a:r>
            <a:endParaRPr sz="1100"/>
          </a:p>
        </p:txBody>
      </p:sp>
      <p:sp>
        <p:nvSpPr>
          <p:cNvPr id="187" name="Google Shape;187;p24"/>
          <p:cNvSpPr txBox="1"/>
          <p:nvPr/>
        </p:nvSpPr>
        <p:spPr>
          <a:xfrm>
            <a:off x="818750" y="1273300"/>
            <a:ext cx="30000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What is package.json?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package.json</a:t>
            </a:r>
            <a:r>
              <a:rPr lang="en" sz="1100">
                <a:solidFill>
                  <a:schemeClr val="dk1"/>
                </a:solidFill>
              </a:rPr>
              <a:t> stores: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project information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installed packages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project dependencies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scripts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It acts like the identity card of the project.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8" name="Google Shape;188;p24"/>
          <p:cNvSpPr txBox="1"/>
          <p:nvPr/>
        </p:nvSpPr>
        <p:spPr>
          <a:xfrm>
            <a:off x="449225" y="26431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Step 4 — Install Express</a:t>
            </a:r>
            <a:r>
              <a:rPr lang="en"/>
              <a:t> </a:t>
            </a:r>
            <a:endParaRPr/>
          </a:p>
        </p:txBody>
      </p:sp>
      <p:pic>
        <p:nvPicPr>
          <p:cNvPr id="189" name="Google Shape;18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0050" y="3072275"/>
            <a:ext cx="1018496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4"/>
          <p:cNvSpPr txBox="1"/>
          <p:nvPr/>
        </p:nvSpPr>
        <p:spPr>
          <a:xfrm>
            <a:off x="4753625" y="1611850"/>
            <a:ext cx="381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1030050" y="3957875"/>
            <a:ext cx="3543000" cy="60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After installing Express: </a:t>
            </a:r>
            <a:r>
              <a:rPr b="1" lang="en" sz="1100">
                <a:solidFill>
                  <a:schemeClr val="dk1"/>
                </a:solidFill>
              </a:rPr>
              <a:t>node_modules/</a:t>
            </a:r>
            <a:endParaRPr b="1" sz="11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   Package-lock.json</a:t>
            </a:r>
            <a:endParaRPr b="1" sz="1100">
              <a:solidFill>
                <a:schemeClr val="dk1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  will automatically be created.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Installing Express</a:t>
            </a:r>
            <a:r>
              <a:rPr b="1" lang="en" sz="2300"/>
              <a:t>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7" name="Google Shape;197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25"/>
          <p:cNvSpPr txBox="1"/>
          <p:nvPr/>
        </p:nvSpPr>
        <p:spPr>
          <a:xfrm>
            <a:off x="340025" y="8644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Step 5 — </a:t>
            </a:r>
            <a:r>
              <a:rPr b="1" lang="en" sz="1100"/>
              <a:t>Create Main Server File </a:t>
            </a:r>
            <a:endParaRPr/>
          </a:p>
        </p:txBody>
      </p:sp>
      <p:sp>
        <p:nvSpPr>
          <p:cNvPr id="200" name="Google Shape;200;p25"/>
          <p:cNvSpPr txBox="1"/>
          <p:nvPr/>
        </p:nvSpPr>
        <p:spPr>
          <a:xfrm>
            <a:off x="4753625" y="1611850"/>
            <a:ext cx="381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1" name="Google Shape;201;p25"/>
          <p:cNvSpPr txBox="1"/>
          <p:nvPr/>
        </p:nvSpPr>
        <p:spPr>
          <a:xfrm>
            <a:off x="681300" y="12578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Create:   server.js </a:t>
            </a:r>
            <a:endParaRPr b="1" sz="1100"/>
          </a:p>
        </p:txBody>
      </p:sp>
      <p:sp>
        <p:nvSpPr>
          <p:cNvPr id="202" name="Google Shape;202;p25"/>
          <p:cNvSpPr txBox="1"/>
          <p:nvPr/>
        </p:nvSpPr>
        <p:spPr>
          <a:xfrm>
            <a:off x="634500" y="15342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Main entry point of backend application.</a:t>
            </a:r>
            <a:r>
              <a:rPr lang="en"/>
              <a:t> </a:t>
            </a:r>
            <a:endParaRPr/>
          </a:p>
        </p:txBody>
      </p:sp>
      <p:sp>
        <p:nvSpPr>
          <p:cNvPr id="203" name="Google Shape;203;p25"/>
          <p:cNvSpPr txBox="1"/>
          <p:nvPr/>
        </p:nvSpPr>
        <p:spPr>
          <a:xfrm>
            <a:off x="634500" y="1934425"/>
            <a:ext cx="3894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What Happens Inside server.js 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Inside server.js we usually:</a:t>
            </a:r>
            <a:endParaRPr sz="1100">
              <a:solidFill>
                <a:schemeClr val="dk1"/>
              </a:solidFill>
            </a:endParaRPr>
          </a:p>
          <a:p>
            <a:pPr indent="-1555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create Express server</a:t>
            </a:r>
            <a:endParaRPr sz="1100">
              <a:solidFill>
                <a:schemeClr val="dk1"/>
              </a:solidFill>
            </a:endParaRPr>
          </a:p>
          <a:p>
            <a:pPr indent="-1555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configure middleware</a:t>
            </a:r>
            <a:endParaRPr sz="1100">
              <a:solidFill>
                <a:schemeClr val="dk1"/>
              </a:solidFill>
            </a:endParaRPr>
          </a:p>
          <a:p>
            <a:pPr indent="-1555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connect routes</a:t>
            </a:r>
            <a:endParaRPr sz="1100">
              <a:solidFill>
                <a:schemeClr val="dk1"/>
              </a:solidFill>
            </a:endParaRPr>
          </a:p>
          <a:p>
            <a:pPr indent="-1555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start the server</a:t>
            </a:r>
            <a:endParaRPr sz="1100">
              <a:solidFill>
                <a:schemeClr val="dk1"/>
              </a:solidFill>
            </a:endParaRPr>
          </a:p>
          <a:p>
            <a:pPr indent="-1555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connect database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So this file controls the complete backend application.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Installing Express</a:t>
            </a:r>
            <a:r>
              <a:rPr b="1" lang="en" sz="2300"/>
              <a:t>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9" name="Google Shape;209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6"/>
          <p:cNvSpPr txBox="1"/>
          <p:nvPr/>
        </p:nvSpPr>
        <p:spPr>
          <a:xfrm>
            <a:off x="427225" y="12571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Folder Structure :</a:t>
            </a:r>
            <a:endParaRPr b="1" sz="1100"/>
          </a:p>
        </p:txBody>
      </p:sp>
      <p:sp>
        <p:nvSpPr>
          <p:cNvPr id="212" name="Google Shape;212;p26"/>
          <p:cNvSpPr txBox="1"/>
          <p:nvPr/>
        </p:nvSpPr>
        <p:spPr>
          <a:xfrm>
            <a:off x="427225" y="1611125"/>
            <a:ext cx="3000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express-app/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│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├── node_modules/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├── package.json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├── package-lock.json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└── server.js</a:t>
            </a:r>
            <a:endParaRPr sz="1100"/>
          </a:p>
        </p:txBody>
      </p:sp>
      <p:sp>
        <p:nvSpPr>
          <p:cNvPr id="213" name="Google Shape;213;p26"/>
          <p:cNvSpPr txBox="1"/>
          <p:nvPr/>
        </p:nvSpPr>
        <p:spPr>
          <a:xfrm>
            <a:off x="4712600" y="1140850"/>
            <a:ext cx="3000000" cy="35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1. node_modules </a:t>
            </a:r>
            <a:endParaRPr b="1" sz="1100"/>
          </a:p>
        </p:txBody>
      </p:sp>
      <p:sp>
        <p:nvSpPr>
          <p:cNvPr id="214" name="Google Shape;214;p26"/>
          <p:cNvSpPr txBox="1"/>
          <p:nvPr/>
        </p:nvSpPr>
        <p:spPr>
          <a:xfrm>
            <a:off x="4712600" y="1420800"/>
            <a:ext cx="3000000" cy="861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This folder contains:</a:t>
            </a:r>
            <a:endParaRPr sz="1100"/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installed packages</a:t>
            </a:r>
            <a:endParaRPr sz="1100"/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Express source code</a:t>
            </a:r>
            <a:endParaRPr sz="1100"/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1100"/>
              <a:t>all dependency files</a:t>
            </a:r>
            <a:endParaRPr sz="1100"/>
          </a:p>
        </p:txBody>
      </p:sp>
      <p:sp>
        <p:nvSpPr>
          <p:cNvPr id="215" name="Google Shape;215;p26"/>
          <p:cNvSpPr txBox="1"/>
          <p:nvPr/>
        </p:nvSpPr>
        <p:spPr>
          <a:xfrm>
            <a:off x="4712600" y="3841038"/>
            <a:ext cx="3000000" cy="35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3</a:t>
            </a:r>
            <a:r>
              <a:rPr b="1" lang="en" sz="1100"/>
              <a:t>. package-lock.json </a:t>
            </a:r>
            <a:endParaRPr b="1" sz="1100"/>
          </a:p>
        </p:txBody>
      </p:sp>
      <p:sp>
        <p:nvSpPr>
          <p:cNvPr id="216" name="Google Shape;216;p26"/>
          <p:cNvSpPr txBox="1"/>
          <p:nvPr/>
        </p:nvSpPr>
        <p:spPr>
          <a:xfrm>
            <a:off x="4712600" y="4195038"/>
            <a:ext cx="3000000" cy="69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Stores: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exact package versions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dependency tree</a:t>
            </a:r>
            <a:endParaRPr sz="1100"/>
          </a:p>
        </p:txBody>
      </p:sp>
      <p:sp>
        <p:nvSpPr>
          <p:cNvPr id="217" name="Google Shape;217;p26"/>
          <p:cNvSpPr txBox="1"/>
          <p:nvPr/>
        </p:nvSpPr>
        <p:spPr>
          <a:xfrm>
            <a:off x="358075" y="3841050"/>
            <a:ext cx="3000000" cy="103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4</a:t>
            </a:r>
            <a:r>
              <a:rPr b="1" lang="en" sz="1100">
                <a:solidFill>
                  <a:schemeClr val="dk1"/>
                </a:solidFill>
              </a:rPr>
              <a:t>. server.js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Main entry point of the backend project.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This is where we will write our Express server code.</a:t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218" name="Google Shape;218;p26"/>
          <p:cNvCxnSpPr/>
          <p:nvPr/>
        </p:nvCxnSpPr>
        <p:spPr>
          <a:xfrm flipH="1">
            <a:off x="1832900" y="1317850"/>
            <a:ext cx="2879700" cy="78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26"/>
          <p:cNvCxnSpPr>
            <a:stCxn id="215" idx="1"/>
          </p:cNvCxnSpPr>
          <p:nvPr/>
        </p:nvCxnSpPr>
        <p:spPr>
          <a:xfrm rot="10800000">
            <a:off x="1886600" y="2731938"/>
            <a:ext cx="2826000" cy="128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26"/>
          <p:cNvCxnSpPr>
            <a:stCxn id="217" idx="0"/>
          </p:cNvCxnSpPr>
          <p:nvPr/>
        </p:nvCxnSpPr>
        <p:spPr>
          <a:xfrm rot="10800000">
            <a:off x="1277875" y="2763450"/>
            <a:ext cx="580200" cy="10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" name="Google Shape;221;p26"/>
          <p:cNvSpPr txBox="1"/>
          <p:nvPr/>
        </p:nvSpPr>
        <p:spPr>
          <a:xfrm>
            <a:off x="4712600" y="2467738"/>
            <a:ext cx="3000000" cy="35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2. package.json </a:t>
            </a:r>
            <a:endParaRPr b="1" sz="1100"/>
          </a:p>
        </p:txBody>
      </p:sp>
      <p:sp>
        <p:nvSpPr>
          <p:cNvPr id="222" name="Google Shape;222;p26"/>
          <p:cNvSpPr txBox="1"/>
          <p:nvPr/>
        </p:nvSpPr>
        <p:spPr>
          <a:xfrm>
            <a:off x="4712600" y="2821738"/>
            <a:ext cx="3000000" cy="69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Stores: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package versions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File information</a:t>
            </a:r>
            <a:endParaRPr sz="1100"/>
          </a:p>
        </p:txBody>
      </p:sp>
      <p:cxnSp>
        <p:nvCxnSpPr>
          <p:cNvPr id="223" name="Google Shape;223;p26"/>
          <p:cNvCxnSpPr>
            <a:stCxn id="222" idx="1"/>
          </p:cNvCxnSpPr>
          <p:nvPr/>
        </p:nvCxnSpPr>
        <p:spPr>
          <a:xfrm rot="10800000">
            <a:off x="1756700" y="2304088"/>
            <a:ext cx="2955900" cy="86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"/>
          <p:cNvSpPr/>
          <p:nvPr/>
        </p:nvSpPr>
        <p:spPr>
          <a:xfrm>
            <a:off x="4610000" y="2957650"/>
            <a:ext cx="3939600" cy="199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7"/>
          <p:cNvSpPr/>
          <p:nvPr/>
        </p:nvSpPr>
        <p:spPr>
          <a:xfrm>
            <a:off x="4610000" y="875488"/>
            <a:ext cx="3939600" cy="199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Creating Server using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Express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1" name="Google Shape;231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3" name="Google Shape;23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300" y="1011563"/>
            <a:ext cx="3394900" cy="238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7"/>
          <p:cNvSpPr txBox="1"/>
          <p:nvPr/>
        </p:nvSpPr>
        <p:spPr>
          <a:xfrm>
            <a:off x="4727875" y="8200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Line 1 — Import Express </a:t>
            </a:r>
            <a:endParaRPr b="1" sz="1100"/>
          </a:p>
        </p:txBody>
      </p:sp>
      <p:sp>
        <p:nvSpPr>
          <p:cNvPr id="235" name="Google Shape;235;p27"/>
          <p:cNvSpPr txBox="1"/>
          <p:nvPr/>
        </p:nvSpPr>
        <p:spPr>
          <a:xfrm>
            <a:off x="4799425" y="1819150"/>
            <a:ext cx="390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Explanation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require()</a:t>
            </a:r>
            <a:r>
              <a:rPr lang="en" sz="1000">
                <a:solidFill>
                  <a:schemeClr val="dk1"/>
                </a:solidFill>
              </a:rPr>
              <a:t> is used to import packages/modules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Here we are importing the Express package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express</a:t>
            </a:r>
            <a:r>
              <a:rPr lang="en" sz="1000">
                <a:solidFill>
                  <a:schemeClr val="dk1"/>
                </a:solidFill>
              </a:rPr>
              <a:t> now stores all functionalities of Express.js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Simple Meaning</a:t>
            </a:r>
            <a:endParaRPr b="1" sz="10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“Bring Express.js into this project so we can use it.”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236" name="Google Shape;23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6100" y="1249174"/>
            <a:ext cx="2083550" cy="494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7" name="Google Shape;237;p27"/>
          <p:cNvCxnSpPr>
            <a:stCxn id="236" idx="1"/>
          </p:cNvCxnSpPr>
          <p:nvPr/>
        </p:nvCxnSpPr>
        <p:spPr>
          <a:xfrm rot="10800000">
            <a:off x="3214800" y="1429399"/>
            <a:ext cx="1971300" cy="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" name="Google Shape;238;p27"/>
          <p:cNvSpPr txBox="1"/>
          <p:nvPr/>
        </p:nvSpPr>
        <p:spPr>
          <a:xfrm>
            <a:off x="4799425" y="29576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Line 2 — Create Express Application</a:t>
            </a:r>
            <a:r>
              <a:rPr lang="en"/>
              <a:t> </a:t>
            </a:r>
            <a:endParaRPr/>
          </a:p>
        </p:txBody>
      </p:sp>
      <p:pic>
        <p:nvPicPr>
          <p:cNvPr id="239" name="Google Shape;23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86100" y="3332425"/>
            <a:ext cx="1378983" cy="49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7"/>
          <p:cNvSpPr txBox="1"/>
          <p:nvPr/>
        </p:nvSpPr>
        <p:spPr>
          <a:xfrm>
            <a:off x="4799425" y="3891425"/>
            <a:ext cx="377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Explanation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express()</a:t>
            </a:r>
            <a:r>
              <a:rPr lang="en" sz="1000">
                <a:solidFill>
                  <a:schemeClr val="dk1"/>
                </a:solidFill>
              </a:rPr>
              <a:t> creates an Express application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en" sz="1000">
                <a:solidFill>
                  <a:schemeClr val="dk1"/>
                </a:solidFill>
              </a:rPr>
              <a:t> becomes our backend server object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241" name="Google Shape;241;p27"/>
          <p:cNvCxnSpPr>
            <a:stCxn id="239" idx="1"/>
          </p:cNvCxnSpPr>
          <p:nvPr/>
        </p:nvCxnSpPr>
        <p:spPr>
          <a:xfrm rot="10800000">
            <a:off x="2223000" y="1792150"/>
            <a:ext cx="2963100" cy="178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2" name="Google Shape;242;p27"/>
          <p:cNvSpPr txBox="1"/>
          <p:nvPr/>
        </p:nvSpPr>
        <p:spPr>
          <a:xfrm>
            <a:off x="7469025" y="3221525"/>
            <a:ext cx="168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3" name="Google Shape;243;p27"/>
          <p:cNvSpPr txBox="1"/>
          <p:nvPr/>
        </p:nvSpPr>
        <p:spPr>
          <a:xfrm>
            <a:off x="2729075" y="4377450"/>
            <a:ext cx="393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/>
          <p:nvPr/>
        </p:nvSpPr>
        <p:spPr>
          <a:xfrm>
            <a:off x="4610000" y="2957650"/>
            <a:ext cx="3939600" cy="199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8"/>
          <p:cNvSpPr/>
          <p:nvPr/>
        </p:nvSpPr>
        <p:spPr>
          <a:xfrm>
            <a:off x="4610000" y="875501"/>
            <a:ext cx="3939600" cy="197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Creating Server using Express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1" name="Google Shape;251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3" name="Google Shape;25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300" y="1011563"/>
            <a:ext cx="3394900" cy="238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8"/>
          <p:cNvSpPr txBox="1"/>
          <p:nvPr/>
        </p:nvSpPr>
        <p:spPr>
          <a:xfrm>
            <a:off x="4727875" y="8200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Line 3 — </a:t>
            </a:r>
            <a:r>
              <a:rPr b="1" lang="en" sz="1100"/>
              <a:t>Create Port Variable </a:t>
            </a:r>
            <a:endParaRPr b="1" sz="1100"/>
          </a:p>
        </p:txBody>
      </p:sp>
      <p:sp>
        <p:nvSpPr>
          <p:cNvPr id="255" name="Google Shape;255;p28"/>
          <p:cNvSpPr txBox="1"/>
          <p:nvPr/>
        </p:nvSpPr>
        <p:spPr>
          <a:xfrm>
            <a:off x="4799425" y="1620597"/>
            <a:ext cx="39039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Explanation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Stores port number inside a variable 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Mono"/>
              <a:buChar char="●"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 port is like a room number inside a building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Mono"/>
              <a:buChar char="●"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Different applications run on different ports. 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381000" marR="381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256" name="Google Shape;256;p28"/>
          <p:cNvCxnSpPr>
            <a:stCxn id="257" idx="1"/>
          </p:cNvCxnSpPr>
          <p:nvPr/>
        </p:nvCxnSpPr>
        <p:spPr>
          <a:xfrm flipH="1">
            <a:off x="1976700" y="1496599"/>
            <a:ext cx="3209400" cy="54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8" name="Google Shape;258;p28"/>
          <p:cNvSpPr txBox="1"/>
          <p:nvPr/>
        </p:nvSpPr>
        <p:spPr>
          <a:xfrm>
            <a:off x="4799425" y="295765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Line 4 — </a:t>
            </a:r>
            <a:r>
              <a:rPr b="1" lang="en" sz="1000"/>
              <a:t>Create Route </a:t>
            </a:r>
            <a:endParaRPr/>
          </a:p>
        </p:txBody>
      </p:sp>
      <p:sp>
        <p:nvSpPr>
          <p:cNvPr id="259" name="Google Shape;259;p28"/>
          <p:cNvSpPr txBox="1"/>
          <p:nvPr/>
        </p:nvSpPr>
        <p:spPr>
          <a:xfrm>
            <a:off x="4799425" y="3891425"/>
            <a:ext cx="37707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app.get()  </a:t>
            </a:r>
            <a:r>
              <a:rPr lang="en" sz="1000">
                <a:solidFill>
                  <a:schemeClr val="dk1"/>
                </a:solidFill>
              </a:rPr>
              <a:t>Used to create a GET route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"/"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Represents homepage route.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When browser visits:  localhost:3000/   this route runs.</a:t>
            </a:r>
            <a:endParaRPr b="1" sz="1300">
              <a:solidFill>
                <a:schemeClr val="dk1"/>
              </a:solidFill>
            </a:endParaRPr>
          </a:p>
        </p:txBody>
      </p:sp>
      <p:cxnSp>
        <p:nvCxnSpPr>
          <p:cNvPr id="260" name="Google Shape;260;p28"/>
          <p:cNvCxnSpPr>
            <a:stCxn id="261" idx="1"/>
          </p:cNvCxnSpPr>
          <p:nvPr/>
        </p:nvCxnSpPr>
        <p:spPr>
          <a:xfrm rot="10800000">
            <a:off x="2674500" y="2400850"/>
            <a:ext cx="2511600" cy="117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62" name="Google Shape;26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3475" y="1102875"/>
            <a:ext cx="1724025" cy="54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44750" y="3311199"/>
            <a:ext cx="2180870" cy="54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8"/>
          <p:cNvSpPr txBox="1"/>
          <p:nvPr/>
        </p:nvSpPr>
        <p:spPr>
          <a:xfrm>
            <a:off x="978200" y="34647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Understanding req and res </a:t>
            </a:r>
            <a:endParaRPr b="1" sz="1100"/>
          </a:p>
        </p:txBody>
      </p:sp>
      <p:sp>
        <p:nvSpPr>
          <p:cNvPr id="265" name="Google Shape;265;p28"/>
          <p:cNvSpPr txBox="1"/>
          <p:nvPr/>
        </p:nvSpPr>
        <p:spPr>
          <a:xfrm>
            <a:off x="222800" y="3891425"/>
            <a:ext cx="1788000" cy="101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req → Request Object</a:t>
            </a:r>
            <a:endParaRPr b="1"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browser request data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URL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headers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parameters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8761D"/>
                </a:solidFill>
              </a:rPr>
              <a:t>Browser </a:t>
            </a:r>
            <a:r>
              <a:rPr lang="en" sz="900">
                <a:solidFill>
                  <a:schemeClr val="dk1"/>
                </a:solidFill>
              </a:rPr>
              <a:t> →  </a:t>
            </a:r>
            <a:r>
              <a:rPr b="1" lang="en" sz="900">
                <a:solidFill>
                  <a:schemeClr val="dk1"/>
                </a:solidFill>
              </a:rPr>
              <a:t>Server</a:t>
            </a:r>
            <a:endParaRPr b="1" sz="900">
              <a:solidFill>
                <a:schemeClr val="dk1"/>
              </a:solidFill>
            </a:endParaRPr>
          </a:p>
        </p:txBody>
      </p:sp>
      <p:sp>
        <p:nvSpPr>
          <p:cNvPr id="266" name="Google Shape;266;p28"/>
          <p:cNvSpPr txBox="1"/>
          <p:nvPr/>
        </p:nvSpPr>
        <p:spPr>
          <a:xfrm>
            <a:off x="2311400" y="3891425"/>
            <a:ext cx="1936200" cy="101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res → Response Object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Used to send response back to browser.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8761D"/>
                </a:solidFill>
              </a:rPr>
              <a:t>Server </a:t>
            </a:r>
            <a:r>
              <a:rPr lang="en" sz="900">
                <a:solidFill>
                  <a:schemeClr val="dk1"/>
                </a:solidFill>
              </a:rPr>
              <a:t>→</a:t>
            </a:r>
            <a:r>
              <a:rPr b="1" lang="en" sz="900">
                <a:solidFill>
                  <a:schemeClr val="dk1"/>
                </a:solidFill>
              </a:rPr>
              <a:t> Browser</a:t>
            </a:r>
            <a:endParaRPr b="1"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9"/>
          <p:cNvSpPr/>
          <p:nvPr/>
        </p:nvSpPr>
        <p:spPr>
          <a:xfrm>
            <a:off x="4610000" y="2957650"/>
            <a:ext cx="3939600" cy="199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9"/>
          <p:cNvSpPr/>
          <p:nvPr/>
        </p:nvSpPr>
        <p:spPr>
          <a:xfrm>
            <a:off x="4610000" y="875500"/>
            <a:ext cx="3939600" cy="156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Creating Server using Express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4" name="Google Shape;274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6" name="Google Shape;27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300" y="1011563"/>
            <a:ext cx="3394900" cy="238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9"/>
          <p:cNvSpPr txBox="1"/>
          <p:nvPr/>
        </p:nvSpPr>
        <p:spPr>
          <a:xfrm>
            <a:off x="4727875" y="8200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Line 5 — </a:t>
            </a:r>
            <a:r>
              <a:rPr b="1" lang="en" sz="1100"/>
              <a:t>Send Response </a:t>
            </a:r>
            <a:endParaRPr b="1" sz="1100"/>
          </a:p>
        </p:txBody>
      </p:sp>
      <p:sp>
        <p:nvSpPr>
          <p:cNvPr id="278" name="Google Shape;278;p29"/>
          <p:cNvSpPr txBox="1"/>
          <p:nvPr/>
        </p:nvSpPr>
        <p:spPr>
          <a:xfrm>
            <a:off x="4799425" y="1620599"/>
            <a:ext cx="39039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Explanation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Mono"/>
              <a:buChar char="●"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Sends data/response to browser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Mono"/>
              <a:buChar char="●"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Browser displays the message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279" name="Google Shape;279;p29"/>
          <p:cNvCxnSpPr>
            <a:stCxn id="280" idx="1"/>
          </p:cNvCxnSpPr>
          <p:nvPr/>
        </p:nvCxnSpPr>
        <p:spPr>
          <a:xfrm flipH="1">
            <a:off x="2599200" y="1496599"/>
            <a:ext cx="2586900" cy="99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1" name="Google Shape;281;p29"/>
          <p:cNvSpPr txBox="1"/>
          <p:nvPr/>
        </p:nvSpPr>
        <p:spPr>
          <a:xfrm>
            <a:off x="4799425" y="295765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Line 6 — </a:t>
            </a:r>
            <a:r>
              <a:rPr b="1" lang="en" sz="1000"/>
              <a:t>Start Server </a:t>
            </a:r>
            <a:endParaRPr/>
          </a:p>
        </p:txBody>
      </p:sp>
      <p:sp>
        <p:nvSpPr>
          <p:cNvPr id="282" name="Google Shape;282;p29"/>
          <p:cNvSpPr txBox="1"/>
          <p:nvPr/>
        </p:nvSpPr>
        <p:spPr>
          <a:xfrm>
            <a:off x="4799425" y="3918850"/>
            <a:ext cx="36729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Starts Express server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Server listens for incoming requests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Runs on port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3000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Callback function Runs automatically when server starts successfully. 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83" name="Google Shape;283;p29"/>
          <p:cNvCxnSpPr>
            <a:stCxn id="284" idx="1"/>
          </p:cNvCxnSpPr>
          <p:nvPr/>
        </p:nvCxnSpPr>
        <p:spPr>
          <a:xfrm rot="10800000">
            <a:off x="2394000" y="2961550"/>
            <a:ext cx="2792100" cy="61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85" name="Google Shape;28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3563" y="1139850"/>
            <a:ext cx="1492393" cy="53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63575" y="3278748"/>
            <a:ext cx="1943229" cy="61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Installing Express</a:t>
            </a:r>
            <a:r>
              <a:rPr b="1" lang="en" sz="2300"/>
              <a:t>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2" name="Google Shape;292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30"/>
          <p:cNvSpPr txBox="1"/>
          <p:nvPr/>
        </p:nvSpPr>
        <p:spPr>
          <a:xfrm>
            <a:off x="519825" y="971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to Run Server ?</a:t>
            </a:r>
            <a:endParaRPr b="1"/>
          </a:p>
        </p:txBody>
      </p:sp>
      <p:sp>
        <p:nvSpPr>
          <p:cNvPr id="295" name="Google Shape;295;p30"/>
          <p:cNvSpPr txBox="1"/>
          <p:nvPr/>
        </p:nvSpPr>
        <p:spPr>
          <a:xfrm>
            <a:off x="656625" y="1405650"/>
            <a:ext cx="15117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Step 1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Open terminal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Step 2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Run command: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node server.js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Step 3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Open browser: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localhost:3000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96" name="Google Shape;296;p30"/>
          <p:cNvSpPr txBox="1"/>
          <p:nvPr/>
        </p:nvSpPr>
        <p:spPr>
          <a:xfrm>
            <a:off x="4572000" y="10115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Expected Output </a:t>
            </a:r>
            <a:endParaRPr b="1" sz="1100"/>
          </a:p>
        </p:txBody>
      </p:sp>
      <p:sp>
        <p:nvSpPr>
          <p:cNvPr id="297" name="Google Shape;297;p30"/>
          <p:cNvSpPr txBox="1"/>
          <p:nvPr/>
        </p:nvSpPr>
        <p:spPr>
          <a:xfrm>
            <a:off x="4784075" y="1405650"/>
            <a:ext cx="3353700" cy="35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Browser: </a:t>
            </a:r>
            <a:endParaRPr sz="1100"/>
          </a:p>
        </p:txBody>
      </p:sp>
      <p:sp>
        <p:nvSpPr>
          <p:cNvPr id="298" name="Google Shape;298;p30"/>
          <p:cNvSpPr txBox="1"/>
          <p:nvPr/>
        </p:nvSpPr>
        <p:spPr>
          <a:xfrm>
            <a:off x="4784125" y="2928575"/>
            <a:ext cx="33537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Terminal:</a:t>
            </a:r>
            <a:r>
              <a:rPr lang="en"/>
              <a:t> </a:t>
            </a:r>
            <a:endParaRPr/>
          </a:p>
        </p:txBody>
      </p:sp>
      <p:sp>
        <p:nvSpPr>
          <p:cNvPr id="299" name="Google Shape;299;p30"/>
          <p:cNvSpPr txBox="1"/>
          <p:nvPr/>
        </p:nvSpPr>
        <p:spPr>
          <a:xfrm>
            <a:off x="656625" y="3524400"/>
            <a:ext cx="34404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Normally websites run on internet servers.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But while developing applications, we first run the server on our own computer for testing.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That local server is called: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localhost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300" name="Google Shape;30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4075" y="1741324"/>
            <a:ext cx="3353775" cy="11872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1" name="Google Shape;30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4088" y="3328775"/>
            <a:ext cx="3353700" cy="937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Basic Route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b="1" lang="en" sz="2300"/>
              <a:t> 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7" name="Google Shape;307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9" name="Google Shape;30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700" y="1073125"/>
            <a:ext cx="3524250" cy="2590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0" name="Google Shape;310;p31"/>
          <p:cNvGraphicFramePr/>
          <p:nvPr/>
        </p:nvGraphicFramePr>
        <p:xfrm>
          <a:off x="5052675" y="220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{354CDD20-C031-499E-9082-5857460B54BA}</a:tableStyleId>
              </a:tblPr>
              <a:tblGrid>
                <a:gridCol w="1762125"/>
                <a:gridCol w="1419225"/>
              </a:tblGrid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URL</a:t>
                      </a:r>
                      <a:endParaRPr sz="12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Output</a:t>
                      </a:r>
                      <a:endParaRPr sz="12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localhost:3000</a:t>
                      </a:r>
                      <a:endParaRPr sz="12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Home Page</a:t>
                      </a:r>
                      <a:endParaRPr sz="12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localhost:3000/about</a:t>
                      </a:r>
                      <a:endParaRPr sz="12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About Page</a:t>
                      </a:r>
                      <a:endParaRPr sz="12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localhost:3000/contact</a:t>
                      </a:r>
                      <a:endParaRPr sz="12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Contact Page</a:t>
                      </a:r>
                      <a:endParaRPr sz="12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311" name="Google Shape;311;p31"/>
          <p:cNvSpPr txBox="1"/>
          <p:nvPr/>
        </p:nvSpPr>
        <p:spPr>
          <a:xfrm>
            <a:off x="5106325" y="16727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Expected Output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1878">
                <a:solidFill>
                  <a:srgbClr val="073763"/>
                </a:solidFill>
              </a:rPr>
              <a:t> </a:t>
            </a:r>
            <a:r>
              <a:rPr b="1" lang="en" sz="2100">
                <a:solidFill>
                  <a:srgbClr val="073763"/>
                </a:solidFill>
                <a:latin typeface="Roboto Mono"/>
                <a:ea typeface="Roboto Mono"/>
                <a:cs typeface="Roboto Mono"/>
                <a:sym typeface="Roboto Mono"/>
              </a:rPr>
              <a:t>app.get()</a:t>
            </a:r>
            <a:r>
              <a:rPr b="1" lang="en" sz="2100">
                <a:solidFill>
                  <a:srgbClr val="073763"/>
                </a:solidFill>
              </a:rPr>
              <a:t> vs  </a:t>
            </a:r>
            <a:r>
              <a:rPr b="1" lang="en" sz="2100">
                <a:solidFill>
                  <a:srgbClr val="073763"/>
                </a:solidFill>
                <a:latin typeface="Roboto Mono"/>
                <a:ea typeface="Roboto Mono"/>
                <a:cs typeface="Roboto Mono"/>
                <a:sym typeface="Roboto Mono"/>
              </a:rPr>
              <a:t>res.send()</a:t>
            </a:r>
            <a:r>
              <a:rPr b="1" lang="en" sz="2100">
                <a:solidFill>
                  <a:srgbClr val="073763"/>
                </a:solidFill>
              </a:rPr>
              <a:t> vs  </a:t>
            </a:r>
            <a:r>
              <a:rPr b="1" lang="en" sz="2100">
                <a:solidFill>
                  <a:srgbClr val="073763"/>
                </a:solidFill>
                <a:latin typeface="Roboto Mono"/>
                <a:ea typeface="Roboto Mono"/>
                <a:cs typeface="Roboto Mono"/>
                <a:sym typeface="Roboto Mono"/>
              </a:rPr>
              <a:t>app.listen()</a:t>
            </a:r>
            <a:r>
              <a:rPr b="1" lang="en" sz="2100">
                <a:solidFill>
                  <a:srgbClr val="073763"/>
                </a:solidFill>
              </a:rPr>
              <a:t> </a:t>
            </a:r>
            <a:endParaRPr b="1" sz="3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7" name="Google Shape;317;p3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19" name="Google Shape;319;p32"/>
          <p:cNvGraphicFramePr/>
          <p:nvPr/>
        </p:nvGraphicFramePr>
        <p:xfrm>
          <a:off x="6202650" y="1738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{0942AB80-48FD-476D-BB19-45E45A5FFD1E}</a:tableStyleId>
              </a:tblPr>
              <a:tblGrid>
                <a:gridCol w="794625"/>
                <a:gridCol w="768950"/>
                <a:gridCol w="1005475"/>
              </a:tblGrid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Method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Purpose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Work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app.get()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Creates a route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Handles incoming GET request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res.send()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Sends response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Sends data back to browser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app.listen()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Starts server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Makes server ready to receive requests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20" name="Google Shape;32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625" y="1011575"/>
            <a:ext cx="4930249" cy="3291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57163" rotWithShape="0" algn="bl" dir="5400000" dist="762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6" name="Google Shape;326;p3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3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100">
                <a:solidFill>
                  <a:schemeClr val="dk1"/>
                </a:solidFill>
              </a:rPr>
              <a:t>What is the purpose of </a:t>
            </a: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require("express")</a:t>
            </a:r>
            <a:r>
              <a:rPr b="1" lang="en" sz="1100">
                <a:solidFill>
                  <a:schemeClr val="dk1"/>
                </a:solidFill>
              </a:rPr>
              <a:t> in Express.js? 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	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Starts the server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Imports the Express package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Creates a route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Sends response to browser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p33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Imports the Express package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333" name="Google Shape;333;p33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34" name="Google Shape;334;p33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require("express")</a:t>
              </a:r>
              <a:r>
                <a:rPr lang="en" sz="1100">
                  <a:solidFill>
                    <a:schemeClr val="dk1"/>
                  </a:solidFill>
                </a:rPr>
                <a:t> is used to import the Express package into the project so we can use Express functionalities like routing and server creation. 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0" name="Google Shape;340;p3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4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Which object contains information sent by the browser to the server?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2" name="Google Shape;342;p34"/>
          <p:cNvSpPr txBox="1"/>
          <p:nvPr/>
        </p:nvSpPr>
        <p:spPr>
          <a:xfrm>
            <a:off x="310900" y="1748350"/>
            <a:ext cx="8084700" cy="1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res</a:t>
            </a:r>
            <a:b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		   B. app</a:t>
            </a:r>
            <a:b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		   C. req</a:t>
            </a:r>
            <a:b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		   D. express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3" name="Google Shape;343;p3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5" name="Google Shape;345;p34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b="1" lang="en" sz="1100">
                <a:solidFill>
                  <a:schemeClr val="dk1"/>
                </a:solidFill>
              </a:rPr>
              <a:t>C. req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46" name="Google Shape;346;p34"/>
          <p:cNvGrpSpPr/>
          <p:nvPr/>
        </p:nvGrpSpPr>
        <p:grpSpPr>
          <a:xfrm>
            <a:off x="310900" y="3959263"/>
            <a:ext cx="6005825" cy="548713"/>
            <a:chOff x="310900" y="3959263"/>
            <a:chExt cx="6005825" cy="548713"/>
          </a:xfrm>
        </p:grpSpPr>
        <p:sp>
          <p:nvSpPr>
            <p:cNvPr id="347" name="Google Shape;347;p34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48" name="Google Shape;348;p34"/>
            <p:cNvSpPr txBox="1"/>
            <p:nvPr/>
          </p:nvSpPr>
          <p:spPr>
            <a:xfrm>
              <a:off x="1607925" y="3959275"/>
              <a:ext cx="47088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req</a:t>
              </a:r>
              <a:r>
                <a:rPr lang="en" sz="1100">
                  <a:solidFill>
                    <a:schemeClr val="dk1"/>
                  </a:solidFill>
                </a:rPr>
                <a:t> stands for request object. Basically, all information coming from client/browser is stored inside </a:t>
              </a:r>
              <a:r>
                <a:rPr lang="en" sz="11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req</a:t>
              </a:r>
              <a:r>
                <a:rPr lang="en" sz="1100">
                  <a:solidFill>
                    <a:schemeClr val="dk1"/>
                  </a:solidFill>
                </a:rPr>
                <a:t>. 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4" name="Google Shape;354;p3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5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the main advantage of Express.js over the Node HTTP module?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6" name="Google Shape;356;p35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	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Express removes JavaScript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Express automatically creates database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Express reduces boilerplate code and simplifies backend development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Express works only with frontend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7" name="Google Shape;357;p35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9" name="Google Shape;359;p35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</a:rPr>
              <a:t>C. Express reduces boilerplate code and simplifies backend development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60" name="Google Shape;360;p35"/>
          <p:cNvGrpSpPr/>
          <p:nvPr/>
        </p:nvGrpSpPr>
        <p:grpSpPr>
          <a:xfrm>
            <a:off x="310900" y="3959263"/>
            <a:ext cx="6005825" cy="1286713"/>
            <a:chOff x="310900" y="3959263"/>
            <a:chExt cx="6005825" cy="1286713"/>
          </a:xfrm>
        </p:grpSpPr>
        <p:sp>
          <p:nvSpPr>
            <p:cNvPr id="361" name="Google Shape;361;p35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62" name="Google Shape;362;p35"/>
            <p:cNvSpPr txBox="1"/>
            <p:nvPr/>
          </p:nvSpPr>
          <p:spPr>
            <a:xfrm>
              <a:off x="1607925" y="3959275"/>
              <a:ext cx="4708800" cy="12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Using the HTTP module requires more manual coding for routes and request handling. Express provides simpler syntax and built-in features which make backend development faster and cleaner.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 txBox="1"/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8" name="Google Shape;368;p3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6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chemeClr val="dk1"/>
                </a:solidFill>
              </a:rPr>
              <a:t>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Express Js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https://developer.mozilla.org/en-US/docs/Learn_web_development/Extensions/Server-side/Express_Nodejs</a:t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express tutorials with examples and interactive editors.</a:t>
            </a:r>
            <a:b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https://www.w3schools.com/nodejs/nodejs_express.asp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Express Official-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covers core Express JS concepts in depth.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https://expressjs.com/en/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0" name="Google Shape;37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37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88813" y="38601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376" name="Google Shape;376;p37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7"/>
          <p:cNvSpPr txBox="1"/>
          <p:nvPr/>
        </p:nvSpPr>
        <p:spPr>
          <a:xfrm>
            <a:off x="4281700" y="2020825"/>
            <a:ext cx="47619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378" name="Google Shape;378;p37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379" name="Google Shape;379;p37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380" name="Google Shape;380;p37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1" name="Google Shape;381;p37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382" name="Google Shape;382;p37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7"/>
          <p:cNvSpPr txBox="1"/>
          <p:nvPr>
            <p:ph idx="12" type="sldNum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4" name="Google Shape;384;p37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85" name="Google Shape;385;p37" title="Programming-bro.png"/>
          <p:cNvPicPr preferRelativeResize="0"/>
          <p:nvPr/>
        </p:nvPicPr>
        <p:blipFill rotWithShape="1">
          <a:blip r:embed="rId7">
            <a:alphaModFix/>
          </a:blip>
          <a:srcRect b="0" l="7673" r="9194" t="12034"/>
          <a:stretch/>
        </p:blipFill>
        <p:spPr>
          <a:xfrm>
            <a:off x="5235463" y="2773850"/>
            <a:ext cx="2892375" cy="20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