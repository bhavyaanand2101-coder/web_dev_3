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Slab"/>
      <p:regular r:id="rId22"/>
      <p:bold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lab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regular.fntdata"/><Relationship Id="rId23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22890c4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22890c4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22890c42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22890c42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22890c42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22890c42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22890c42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22890c42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288cfae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8288cfae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8288cfae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8288cfae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8288cfae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8288cfae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8288cfae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8288cfae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288cfae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8288cfae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288cfae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8288cfae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288cfae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8288cfae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22890c42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22890c42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288cfae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8288cfae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8288cfae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8288cfae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800b327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800b327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800b3273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800b3273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hyperlink" Target="https://developer.mozilla.org/en-US/docs/Learn_web_development/Extensions/Server-side/Express_Nodejs" TargetMode="External"/><Relationship Id="rId5" Type="http://schemas.openxmlformats.org/officeDocument/2006/relationships/hyperlink" Target="https://www.w3schools.com/nodejs/nodejs_express.asp" TargetMode="External"/><Relationship Id="rId6" Type="http://schemas.openxmlformats.org/officeDocument/2006/relationships/hyperlink" Target="https://expressjs.com/en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18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90272" y="2145213"/>
              <a:ext cx="45930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800">
                  <a:solidFill>
                    <a:schemeClr val="lt1"/>
                  </a:solidFill>
                </a:rPr>
                <a:t>Error Handling</a:t>
              </a:r>
              <a:r>
                <a:rPr lang="en" sz="2900">
                  <a:solidFill>
                    <a:schemeClr val="lt1"/>
                  </a:solidFill>
                </a:rPr>
                <a:t> </a:t>
              </a:r>
              <a:endParaRPr sz="4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Pratik Raj Verma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125" y="3941879"/>
            <a:ext cx="548701" cy="3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6925" y="3941876"/>
            <a:ext cx="379415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 title="Programming-bro.png"/>
          <p:cNvPicPr preferRelativeResize="0"/>
          <p:nvPr/>
        </p:nvPicPr>
        <p:blipFill rotWithShape="1">
          <a:blip r:embed="rId9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Error Handling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try-catch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Custom Error Middleware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73763"/>
                </a:solidFill>
              </a:rPr>
              <a:t>Imagine you open Instagram and request a post like /posts/99999, but that post does not exist. Instead of crashing, the application should display a proper message such as "Post Not Found". </a:t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73763"/>
                </a:solidFill>
              </a:rPr>
              <a:t>Handling such unexpected situations gracefully is called Error Handling, which helps keep applications stable and user-friendly. 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7975" y="2198801"/>
            <a:ext cx="3308050" cy="2661275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451425" y="1250950"/>
            <a:ext cx="4021800" cy="23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Error Handling is the process of catching errors and sending meaningful responses to the client instead of crashing the application.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Purpose: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Prevent crashes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Improve user experience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Return meaningful responses</a:t>
            </a:r>
            <a:endParaRPr sz="1200"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500" y="1417050"/>
            <a:ext cx="3846074" cy="255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376200" y="1011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Common Errors in Backend </a:t>
            </a:r>
            <a:endParaRPr b="1" sz="1200"/>
          </a:p>
        </p:txBody>
      </p:sp>
      <p:sp>
        <p:nvSpPr>
          <p:cNvPr id="106" name="Google Shape;106;p17"/>
          <p:cNvSpPr txBox="1"/>
          <p:nvPr/>
        </p:nvSpPr>
        <p:spPr>
          <a:xfrm>
            <a:off x="506150" y="1544175"/>
            <a:ext cx="59232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Examples: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Student not found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Wrong ID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Invalid route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Database connection failure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Programming bugs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Question: How do we handle these situations?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Answer:  </a:t>
            </a:r>
            <a:r>
              <a:rPr b="1" lang="en" sz="1200">
                <a:solidFill>
                  <a:schemeClr val="dk1"/>
                </a:solidFill>
              </a:rPr>
              <a:t>Error Handling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2" name="Google Shape;112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499300" y="8722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Using try-catch : </a:t>
            </a:r>
            <a:endParaRPr b="1" sz="1300"/>
          </a:p>
        </p:txBody>
      </p:sp>
      <p:sp>
        <p:nvSpPr>
          <p:cNvPr id="115" name="Google Shape;115;p18"/>
          <p:cNvSpPr txBox="1"/>
          <p:nvPr/>
        </p:nvSpPr>
        <p:spPr>
          <a:xfrm>
            <a:off x="554025" y="1291300"/>
            <a:ext cx="30000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try-catch is used to catch errors during execution.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Especially useful for: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Database operations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Async functions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External API calls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025" y="3014725"/>
            <a:ext cx="3669025" cy="17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5608575" y="1636375"/>
            <a:ext cx="26520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How try-catch Works :</a:t>
            </a:r>
            <a:endParaRPr b="1" sz="1100"/>
          </a:p>
        </p:txBody>
      </p:sp>
      <p:sp>
        <p:nvSpPr>
          <p:cNvPr id="118" name="Google Shape;118;p18"/>
          <p:cNvSpPr txBox="1"/>
          <p:nvPr/>
        </p:nvSpPr>
        <p:spPr>
          <a:xfrm>
            <a:off x="5608575" y="2031400"/>
            <a:ext cx="2652000" cy="2216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try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↓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Execute Code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↓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Error?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↓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Yes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↓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catch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↓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Send Error Response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389875" y="7859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Handling Invalid Student ID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725" y="2571738"/>
            <a:ext cx="3604983" cy="2017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5755380" y="2943067"/>
            <a:ext cx="2511900" cy="1274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102975" lIns="102975" spcFirstLastPara="1" rIns="102975" wrap="square" tIns="1029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52"/>
              </a:spcBef>
              <a:spcAft>
                <a:spcPts val="0"/>
              </a:spcAft>
              <a:buNone/>
            </a:pPr>
            <a:r>
              <a:rPr lang="en" sz="1126"/>
              <a:t>Response:</a:t>
            </a:r>
            <a:endParaRPr sz="1126"/>
          </a:p>
          <a:p>
            <a:pPr indent="0" lvl="0" marL="0" rtl="0" algn="l">
              <a:spcBef>
                <a:spcPts val="1352"/>
              </a:spcBef>
              <a:spcAft>
                <a:spcPts val="0"/>
              </a:spcAft>
              <a:buNone/>
            </a:pPr>
            <a:r>
              <a:rPr lang="en" sz="1126"/>
              <a:t>{</a:t>
            </a:r>
            <a:endParaRPr sz="112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6"/>
              <a:t>  "success":false,</a:t>
            </a:r>
            <a:endParaRPr sz="112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6"/>
              <a:t>  "message":"Student Not Found"</a:t>
            </a:r>
            <a:endParaRPr sz="112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26"/>
              <a:t>}</a:t>
            </a:r>
            <a:endParaRPr sz="1126"/>
          </a:p>
        </p:txBody>
      </p:sp>
      <p:sp>
        <p:nvSpPr>
          <p:cNvPr id="129" name="Google Shape;129;p19"/>
          <p:cNvSpPr txBox="1"/>
          <p:nvPr/>
        </p:nvSpPr>
        <p:spPr>
          <a:xfrm>
            <a:off x="430900" y="1210625"/>
            <a:ext cx="4008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</a:t>
            </a:r>
            <a:r>
              <a:rPr lang="en" sz="1100">
                <a:solidFill>
                  <a:schemeClr val="dk1"/>
                </a:solidFill>
              </a:rPr>
              <a:t>means checking whether a student with the requested ID exists before performing any operation.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If the ID is invalid or not found, the application should return a proper error message instead of crashing.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" name="Google Shape;135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437750" y="8891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Invalid Route Middleware </a:t>
            </a:r>
            <a:endParaRPr b="1" sz="1100"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1800" y="1483175"/>
            <a:ext cx="3500650" cy="201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437750" y="3016375"/>
            <a:ext cx="30000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Important: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Always place this after all routes.</a:t>
            </a:r>
            <a:endParaRPr sz="1200"/>
          </a:p>
        </p:txBody>
      </p:sp>
      <p:sp>
        <p:nvSpPr>
          <p:cNvPr id="140" name="Google Shape;140;p20"/>
          <p:cNvSpPr txBox="1"/>
          <p:nvPr/>
        </p:nvSpPr>
        <p:spPr>
          <a:xfrm>
            <a:off x="437750" y="1444863"/>
            <a:ext cx="4032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Invalid Route Middleware</a:t>
            </a:r>
            <a:r>
              <a:rPr lang="en" sz="1100">
                <a:solidFill>
                  <a:schemeClr val="dk1"/>
                </a:solidFill>
              </a:rPr>
              <a:t> is a middleware used to handle requests for routes that do not exist in the application.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a user tries to access an undefined URL, it returns a proper error response (usually </a:t>
            </a:r>
            <a:r>
              <a:rPr b="1" lang="en" sz="1100">
                <a:solidFill>
                  <a:schemeClr val="dk1"/>
                </a:solidFill>
              </a:rPr>
              <a:t>404 Not Found</a:t>
            </a:r>
            <a:r>
              <a:rPr lang="en" sz="1100">
                <a:solidFill>
                  <a:schemeClr val="dk1"/>
                </a:solidFill>
              </a:rPr>
              <a:t>) instead of leaving the request unresolved.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6" name="Google Shape;146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359575" y="8892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What is Error Middleware? </a:t>
            </a:r>
            <a:endParaRPr b="1" sz="1100"/>
          </a:p>
        </p:txBody>
      </p:sp>
      <p:sp>
        <p:nvSpPr>
          <p:cNvPr id="149" name="Google Shape;149;p21"/>
          <p:cNvSpPr txBox="1"/>
          <p:nvPr/>
        </p:nvSpPr>
        <p:spPr>
          <a:xfrm>
            <a:off x="359575" y="1202150"/>
            <a:ext cx="410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Express provides a special middleware for handling errors. </a:t>
            </a:r>
            <a:endParaRPr sz="1100"/>
          </a:p>
        </p:txBody>
      </p:sp>
      <p:sp>
        <p:nvSpPr>
          <p:cNvPr id="150" name="Google Shape;150;p21"/>
          <p:cNvSpPr txBox="1"/>
          <p:nvPr/>
        </p:nvSpPr>
        <p:spPr>
          <a:xfrm>
            <a:off x="957575" y="1769850"/>
            <a:ext cx="1915200" cy="735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Normal Middleware: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(req,res,next)</a:t>
            </a:r>
            <a:endParaRPr sz="1200"/>
          </a:p>
        </p:txBody>
      </p:sp>
      <p:sp>
        <p:nvSpPr>
          <p:cNvPr id="151" name="Google Shape;151;p21"/>
          <p:cNvSpPr txBox="1"/>
          <p:nvPr/>
        </p:nvSpPr>
        <p:spPr>
          <a:xfrm>
            <a:off x="5039775" y="1769850"/>
            <a:ext cx="1915200" cy="7356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Error Middleware: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(err,req,res,next)</a:t>
            </a:r>
            <a:endParaRPr sz="1200"/>
          </a:p>
        </p:txBody>
      </p:sp>
      <p:sp>
        <p:nvSpPr>
          <p:cNvPr id="152" name="Google Shape;152;p21"/>
          <p:cNvSpPr txBox="1"/>
          <p:nvPr/>
        </p:nvSpPr>
        <p:spPr>
          <a:xfrm>
            <a:off x="415175" y="25841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Custom Error Middleware :</a:t>
            </a:r>
            <a:endParaRPr b="1" sz="1200"/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500" y="3032100"/>
            <a:ext cx="2667775" cy="18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5121850" y="3908225"/>
            <a:ext cx="1915200" cy="9480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Purpose: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Handle all application errors from one place.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0" name="Google Shape;160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417225" y="957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Triggering Error Middleware </a:t>
            </a:r>
            <a:endParaRPr sz="1200"/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75" y="1953475"/>
            <a:ext cx="30861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4931475" y="2445175"/>
            <a:ext cx="2065500" cy="1451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Explanation: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next(err)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sends control directly to Error Middleware.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0" name="Google Shape;170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3"/>
          <p:cNvSpPr txBox="1"/>
          <p:nvPr/>
        </p:nvSpPr>
        <p:spPr>
          <a:xfrm>
            <a:off x="465100" y="964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Error Handling Flow Diagram </a:t>
            </a:r>
            <a:endParaRPr b="1" sz="1200"/>
          </a:p>
        </p:txBody>
      </p:sp>
      <p:sp>
        <p:nvSpPr>
          <p:cNvPr id="173" name="Google Shape;173;p23"/>
          <p:cNvSpPr txBox="1"/>
          <p:nvPr/>
        </p:nvSpPr>
        <p:spPr>
          <a:xfrm>
            <a:off x="601925" y="1512150"/>
            <a:ext cx="2380200" cy="2555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Request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Handler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r>
              <a:rPr lang="en"/>
              <a:t>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Occurs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  </a:t>
            </a:r>
            <a:r>
              <a:rPr lang="en"/>
              <a:t>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next(err)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Middleware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Response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9" name="Google Shape;179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What is the main purpose of Error Handling in Express.js?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To create routes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To connect databases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To prevent application crashes and send meaningful responses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To install middleware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C. To prevent application crashes and send meaningful responses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85" name="Google Shape;185;p24"/>
          <p:cNvGrpSpPr/>
          <p:nvPr/>
        </p:nvGrpSpPr>
        <p:grpSpPr>
          <a:xfrm>
            <a:off x="310900" y="3959263"/>
            <a:ext cx="6005825" cy="1440613"/>
            <a:chOff x="310900" y="3959263"/>
            <a:chExt cx="6005825" cy="1440613"/>
          </a:xfrm>
        </p:grpSpPr>
        <p:sp>
          <p:nvSpPr>
            <p:cNvPr id="186" name="Google Shape;186;p2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87" name="Google Shape;187;p24"/>
            <p:cNvSpPr txBox="1"/>
            <p:nvPr/>
          </p:nvSpPr>
          <p:spPr>
            <a:xfrm>
              <a:off x="1607925" y="3959275"/>
              <a:ext cx="4708800" cy="144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Error Handling helps applications: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remain stable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avoid unexpected crashes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send proper error messages to clients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block executes when an error occurs inside a try block?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finally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if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catch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next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p2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C. catch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9" name="Google Shape;199;p25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200" name="Google Shape;200;p2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25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If an error occurs inside the </a:t>
              </a: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try</a:t>
              </a:r>
              <a:r>
                <a:rPr lang="en" sz="1100">
                  <a:solidFill>
                    <a:schemeClr val="dk1"/>
                  </a:solidFill>
                </a:rPr>
                <a:t> block, JavaScript immediately jumps to the </a:t>
              </a: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catch</a:t>
              </a:r>
              <a:r>
                <a:rPr lang="en" sz="1100">
                  <a:solidFill>
                    <a:schemeClr val="dk1"/>
                  </a:solidFill>
                </a:rPr>
                <a:t> block.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7" name="Google Shape;207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function is used to pass an error to the Error Handling Middleware?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res.send()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req.body()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app.listen()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next(err)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0" name="Google Shape;210;p2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6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next(err)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3" name="Google Shape;213;p26"/>
          <p:cNvGrpSpPr/>
          <p:nvPr/>
        </p:nvGrpSpPr>
        <p:grpSpPr>
          <a:xfrm>
            <a:off x="310900" y="3959263"/>
            <a:ext cx="6005825" cy="1354513"/>
            <a:chOff x="310900" y="3959263"/>
            <a:chExt cx="6005825" cy="1354513"/>
          </a:xfrm>
        </p:grpSpPr>
        <p:sp>
          <p:nvSpPr>
            <p:cNvPr id="214" name="Google Shape;214;p26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26"/>
            <p:cNvSpPr txBox="1"/>
            <p:nvPr/>
          </p:nvSpPr>
          <p:spPr>
            <a:xfrm>
              <a:off x="1607925" y="3959275"/>
              <a:ext cx="47088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When an error occurs, we use: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next(err);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This tells Express to skip normal middleware and directly execute the Error Handling Middleware.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This is the standard way of forwarding errors in Express.js 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1" name="Google Shape;221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Express Js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https://developer.mozilla.org/en-US/docs/Learn_web_development/Extensions/Server-side/Express_Nodejs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express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https://www.w3schools.com/nodejs/nodejs_express.asp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Express Official-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Express JS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https://expressjs.com/en/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8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88813" y="38601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29" name="Google Shape;229;p28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4281700" y="2020825"/>
            <a:ext cx="476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31" name="Google Shape;231;p28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32" name="Google Shape;232;p28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233" name="Google Shape;233;p28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" name="Google Shape;234;p28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235" name="Google Shape;235;p28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28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8" name="Google Shape;238;p28" title="Programming-bro.png"/>
          <p:cNvPicPr preferRelativeResize="0"/>
          <p:nvPr/>
        </p:nvPicPr>
        <p:blipFill rotWithShape="1">
          <a:blip r:embed="rId7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