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oboto Slab"/>
      <p:regular r:id="rId31"/>
      <p:bold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2EF13E-6C13-478A-9DA6-E17582D73979}">
  <a:tblStyle styleId="{222EF13E-6C13-478A-9DA6-E17582D7397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Slab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font" Target="fonts/RobotoSlab-bold.fntdata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227c1271d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227c1271d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227c1271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227c1271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227c1271d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227c1271d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3fcb9149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3fcb9149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227c1271d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227c1271d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4e5276f2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4e5276f2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4e5276f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4e5276f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3fcb9149a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3fcb9149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3fcb9149a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3fcb9149a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3fcb9149a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3fcb9149a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401b714fe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401b714fe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401b714f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401b714f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401b714fe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401b714fe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43589c1d5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43589c1d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474506a4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474506a4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474506a4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474506a4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43589c1d5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43589c1d5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474506a4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474506a4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474506a4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474506a4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227c1271d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227c1271d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474506a4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474506a4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474506a4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474506a4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800b964c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800b964c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800b964c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800b964c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5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273849" y="1305394"/>
            <a:ext cx="3451942" cy="2315838"/>
            <a:chOff x="740445" y="1587513"/>
            <a:chExt cx="4642827" cy="2315838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740445" y="1587513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12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90272" y="2145213"/>
              <a:ext cx="45930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700">
                  <a:solidFill>
                    <a:schemeClr val="lt1"/>
                  </a:solidFill>
                </a:rPr>
                <a:t>Introduction to MVC Architecture</a:t>
              </a:r>
              <a:r>
                <a:rPr b="1" lang="en" sz="1800">
                  <a:solidFill>
                    <a:schemeClr val="lt1"/>
                  </a:solidFill>
                </a:rPr>
                <a:t> </a:t>
              </a:r>
              <a:endParaRPr b="1" sz="3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3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MVC Architecture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Okay, now we know how to create a server using Express.js…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But do you think companies like Amazon, Netflix, or Instagram write their entire backend inside one single file? 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3663" y="1787225"/>
            <a:ext cx="3836675" cy="308652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Okay, now we know how to create a server using Express.js…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But do you think companies like Amazon, Netflix, or Instagram write their entire backend inside one single file? 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46750" y="1748550"/>
            <a:ext cx="7317600" cy="27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Imagine a project with:</a:t>
            </a:r>
            <a:endParaRPr sz="1100"/>
          </a:p>
          <a:p>
            <a:pPr indent="-27940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500 routes</a:t>
            </a:r>
            <a:endParaRPr sz="1100"/>
          </a:p>
          <a:p>
            <a:pPr indent="-2794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100 APIs</a:t>
            </a:r>
            <a:endParaRPr sz="1100"/>
          </a:p>
          <a:p>
            <a:pPr indent="-2794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authentication</a:t>
            </a:r>
            <a:endParaRPr sz="1100"/>
          </a:p>
          <a:p>
            <a:pPr indent="-2794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database</a:t>
            </a:r>
            <a:endParaRPr sz="1100"/>
          </a:p>
          <a:p>
            <a:pPr indent="-2794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payment system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If everything is written inside one file, the project will become messy, confusing, and very hard to manage. </a:t>
            </a:r>
            <a:endParaRPr sz="1100"/>
          </a:p>
          <a:p>
            <a:pPr indent="0" lvl="0" marL="37147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That’s why in real industry projects, developers organize backend code in a proper structure.</a:t>
            </a:r>
            <a:endParaRPr sz="1100">
              <a:solidFill>
                <a:schemeClr val="dk1"/>
              </a:solidFill>
            </a:endParaRPr>
          </a:p>
          <a:p>
            <a:pPr indent="0" lvl="0" marL="371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371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Instead of writing everything together,</a:t>
            </a:r>
            <a:r>
              <a:rPr b="1" lang="en" sz="1100">
                <a:solidFill>
                  <a:schemeClr val="dk1"/>
                </a:solidFill>
              </a:rPr>
              <a:t> we separate responsibilities into different folders and files.</a:t>
            </a:r>
            <a:endParaRPr b="1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592100" y="847275"/>
            <a:ext cx="53058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Yes, </a:t>
            </a:r>
            <a:r>
              <a:rPr lang="en" sz="1100"/>
              <a:t>A big thanks to </a:t>
            </a:r>
            <a:r>
              <a:rPr b="1" lang="en" sz="1100"/>
              <a:t>MVC 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MVC helps developers keep backend projects well organized.</a:t>
            </a:r>
            <a:r>
              <a:rPr b="1" lang="en" sz="1100"/>
              <a:t> It separates different work into different sections, </a:t>
            </a:r>
            <a:r>
              <a:rPr lang="en" sz="1100"/>
              <a:t>which makes the code easier to understand, manage, and update.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It also helps developers build large applications in a clean and scalable way.</a:t>
            </a:r>
            <a:endParaRPr sz="1100"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025" y="2727025"/>
            <a:ext cx="2031950" cy="203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5524" y="1195400"/>
            <a:ext cx="3066176" cy="35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3102850" y="2428350"/>
            <a:ext cx="1226700" cy="5727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3400750" y="2470950"/>
            <a:ext cx="10164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MVC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4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7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" name="Google Shape;115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6375825" y="1738638"/>
            <a:ext cx="2191200" cy="1877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Controller Part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Controller part handles: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backend logic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request handling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response sending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API functionality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CRUD operations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business logic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576950" y="1764863"/>
            <a:ext cx="2191200" cy="1877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Model Part 📦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Model part handles: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database-related work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schema design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structure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database interaction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Student schema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Product data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476388" y="1764863"/>
            <a:ext cx="2191200" cy="1877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View Part 🖥️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View part handles: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frontend UI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display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what users see on screen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React components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HTML pages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frontend interface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" name="Google Shape;125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1538" y="1172425"/>
            <a:ext cx="5240926" cy="3490801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820000" dist="381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499475" y="1051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Real-Life Analogy </a:t>
            </a:r>
            <a:endParaRPr b="1"/>
          </a:p>
        </p:txBody>
      </p:sp>
      <p:sp>
        <p:nvSpPr>
          <p:cNvPr id="136" name="Google Shape;136;p20"/>
          <p:cNvSpPr txBox="1"/>
          <p:nvPr/>
        </p:nvSpPr>
        <p:spPr>
          <a:xfrm>
            <a:off x="543250" y="15158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Imagine a restaurant system: </a:t>
            </a:r>
            <a:endParaRPr sz="1100"/>
          </a:p>
        </p:txBody>
      </p:sp>
      <p:graphicFrame>
        <p:nvGraphicFramePr>
          <p:cNvPr id="137" name="Google Shape;137;p20"/>
          <p:cNvGraphicFramePr/>
          <p:nvPr/>
        </p:nvGraphicFramePr>
        <p:xfrm>
          <a:off x="543250" y="211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{222EF13E-6C13-478A-9DA6-E17582D73979}</a:tableStyleId>
              </a:tblPr>
              <a:tblGrid>
                <a:gridCol w="779800"/>
                <a:gridCol w="22903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Role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Responsibility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Waiter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Takes customer orders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Chef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Prepares food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Manager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Maintains records and manages operations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2136" y="788425"/>
            <a:ext cx="5339013" cy="42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6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4" name="Google Shape;144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311700" y="885000"/>
            <a:ext cx="542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Come on… now let’s build a professional backend project like </a:t>
            </a:r>
            <a:r>
              <a:rPr b="1" lang="en"/>
              <a:t>real industry developers. </a:t>
            </a:r>
            <a:endParaRPr b="1"/>
          </a:p>
        </p:txBody>
      </p:sp>
      <p:sp>
        <p:nvSpPr>
          <p:cNvPr id="147" name="Google Shape;147;p21"/>
          <p:cNvSpPr txBox="1"/>
          <p:nvPr/>
        </p:nvSpPr>
        <p:spPr>
          <a:xfrm>
            <a:off x="311700" y="1752475"/>
            <a:ext cx="402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1 : </a:t>
            </a:r>
            <a:r>
              <a:rPr lang="en" sz="1200"/>
              <a:t>Create a file named:  </a:t>
            </a:r>
            <a:r>
              <a:rPr b="1" lang="en" sz="1200"/>
              <a:t> server.js</a:t>
            </a:r>
            <a:endParaRPr b="1"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This file will control our entire backend server.</a:t>
            </a:r>
            <a:endParaRPr b="1" sz="1200"/>
          </a:p>
        </p:txBody>
      </p:sp>
      <p:sp>
        <p:nvSpPr>
          <p:cNvPr id="148" name="Google Shape;148;p21"/>
          <p:cNvSpPr txBox="1"/>
          <p:nvPr/>
        </p:nvSpPr>
        <p:spPr>
          <a:xfrm>
            <a:off x="441700" y="2915200"/>
            <a:ext cx="2665200" cy="1508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2</a:t>
            </a:r>
            <a:r>
              <a:rPr b="1" lang="en" sz="1300"/>
              <a:t> </a:t>
            </a:r>
            <a:r>
              <a:rPr b="1" lang="en" sz="1100"/>
              <a:t>: </a:t>
            </a:r>
            <a:r>
              <a:rPr lang="en" sz="1200"/>
              <a:t>Now create these folders:  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—</a:t>
            </a:r>
            <a:r>
              <a:rPr b="1" lang="en" sz="1200"/>
              <a:t>Server</a:t>
            </a:r>
            <a:endParaRPr b="1"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├── routes/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├── controllers/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├── models/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├── database/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└── server.js</a:t>
            </a:r>
            <a:endParaRPr sz="1200"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1400" y="1993675"/>
            <a:ext cx="3443475" cy="2015575"/>
          </a:xfrm>
          <a:prstGeom prst="rect">
            <a:avLst/>
          </a:prstGeom>
          <a:noFill/>
          <a:ln>
            <a:noFill/>
          </a:ln>
          <a:effectLst>
            <a:outerShdw blurRad="100013" rotWithShape="0" algn="bl" dir="5400000" dist="38100">
              <a:srgbClr val="000000">
                <a:alpha val="60000"/>
              </a:srgbClr>
            </a:outerShdw>
          </a:effectLst>
        </p:spPr>
      </p:pic>
      <p:cxnSp>
        <p:nvCxnSpPr>
          <p:cNvPr id="150" name="Google Shape;150;p21"/>
          <p:cNvCxnSpPr>
            <a:stCxn id="148" idx="3"/>
            <a:endCxn id="149" idx="1"/>
          </p:cNvCxnSpPr>
          <p:nvPr/>
        </p:nvCxnSpPr>
        <p:spPr>
          <a:xfrm flipH="1" rot="10800000">
            <a:off x="3106900" y="3001600"/>
            <a:ext cx="1974600" cy="66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411825" y="1011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Understanding Each Folder :-</a:t>
            </a:r>
            <a:endParaRPr b="1"/>
          </a:p>
        </p:txBody>
      </p:sp>
      <p:sp>
        <p:nvSpPr>
          <p:cNvPr id="159" name="Google Shape;159;p22"/>
          <p:cNvSpPr txBox="1"/>
          <p:nvPr/>
        </p:nvSpPr>
        <p:spPr>
          <a:xfrm>
            <a:off x="411825" y="1507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</a:t>
            </a:r>
            <a:r>
              <a:rPr b="1" lang="en"/>
              <a:t>controllers Folder:</a:t>
            </a:r>
            <a:endParaRPr b="1"/>
          </a:p>
        </p:txBody>
      </p:sp>
      <p:sp>
        <p:nvSpPr>
          <p:cNvPr id="160" name="Google Shape;160;p22"/>
          <p:cNvSpPr txBox="1"/>
          <p:nvPr/>
        </p:nvSpPr>
        <p:spPr>
          <a:xfrm>
            <a:off x="481925" y="1923000"/>
            <a:ext cx="300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Controllers contain:</a:t>
            </a:r>
            <a:endParaRPr sz="1200"/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application logic</a:t>
            </a:r>
            <a:endParaRPr sz="12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backend functionality</a:t>
            </a:r>
            <a:endParaRPr sz="12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response handling</a:t>
            </a:r>
            <a:endParaRPr sz="1200"/>
          </a:p>
        </p:txBody>
      </p:sp>
      <p:sp>
        <p:nvSpPr>
          <p:cNvPr id="161" name="Google Shape;161;p22"/>
          <p:cNvSpPr txBox="1"/>
          <p:nvPr/>
        </p:nvSpPr>
        <p:spPr>
          <a:xfrm>
            <a:off x="3046625" y="1970875"/>
            <a:ext cx="1679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Examples: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Create data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Read data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update data 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Delete data</a:t>
            </a:r>
            <a:endParaRPr sz="1200"/>
          </a:p>
        </p:txBody>
      </p:sp>
      <p:sp>
        <p:nvSpPr>
          <p:cNvPr id="162" name="Google Shape;162;p22"/>
          <p:cNvSpPr txBox="1"/>
          <p:nvPr/>
        </p:nvSpPr>
        <p:spPr>
          <a:xfrm>
            <a:off x="481925" y="3278450"/>
            <a:ext cx="411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Controllers are functions that contain the </a:t>
            </a:r>
            <a:r>
              <a:rPr b="1" lang="en" sz="1200"/>
              <a:t>main backend logic of an application.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They receive requests from routes, process the required operations, and send responses back to the frontend or client </a:t>
            </a:r>
            <a:endParaRPr sz="1200"/>
          </a:p>
        </p:txBody>
      </p:sp>
      <p:pic>
        <p:nvPicPr>
          <p:cNvPr id="163" name="Google Shape;16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5875" y="1643925"/>
            <a:ext cx="3715949" cy="2471601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381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9" name="Google Shape;169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3"/>
          <p:cNvSpPr txBox="1"/>
          <p:nvPr/>
        </p:nvSpPr>
        <p:spPr>
          <a:xfrm>
            <a:off x="637625" y="1011575"/>
            <a:ext cx="417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Code Examples: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775" y="1475300"/>
            <a:ext cx="38182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5472425" y="6652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Explanation :</a:t>
            </a:r>
            <a:endParaRPr sz="1200"/>
          </a:p>
        </p:txBody>
      </p:sp>
      <p:sp>
        <p:nvSpPr>
          <p:cNvPr id="174" name="Google Shape;174;p23"/>
          <p:cNvSpPr txBox="1"/>
          <p:nvPr/>
        </p:nvSpPr>
        <p:spPr>
          <a:xfrm>
            <a:off x="5472425" y="1034525"/>
            <a:ext cx="3345600" cy="69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array stores student data.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Currently we are not using database, so data is stored inside an array. </a:t>
            </a:r>
            <a:endParaRPr sz="1100"/>
          </a:p>
        </p:txBody>
      </p:sp>
      <p:cxnSp>
        <p:nvCxnSpPr>
          <p:cNvPr id="175" name="Google Shape;175;p23"/>
          <p:cNvCxnSpPr>
            <a:stCxn id="174" idx="1"/>
          </p:cNvCxnSpPr>
          <p:nvPr/>
        </p:nvCxnSpPr>
        <p:spPr>
          <a:xfrm flipH="1">
            <a:off x="2231525" y="1380875"/>
            <a:ext cx="3240900" cy="5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3"/>
          <p:cNvSpPr txBox="1"/>
          <p:nvPr/>
        </p:nvSpPr>
        <p:spPr>
          <a:xfrm>
            <a:off x="5472425" y="2124150"/>
            <a:ext cx="3345600" cy="2385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2700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getStudents : </a:t>
            </a:r>
            <a:r>
              <a:rPr lang="en" sz="1100">
                <a:solidFill>
                  <a:schemeClr val="dk1"/>
                </a:solidFill>
              </a:rPr>
              <a:t>This is a controller function used to handle  the request for getting all students.</a:t>
            </a:r>
            <a:endParaRPr sz="1100">
              <a:solidFill>
                <a:schemeClr val="dk1"/>
              </a:solidFill>
            </a:endParaRPr>
          </a:p>
          <a:p>
            <a:pPr indent="-571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eq : </a:t>
            </a:r>
            <a:r>
              <a:rPr lang="en" sz="1100">
                <a:solidFill>
                  <a:schemeClr val="dk1"/>
                </a:solidFill>
              </a:rPr>
              <a:t>It contains data sent by the client/browser.</a:t>
            </a:r>
            <a:endParaRPr sz="1100">
              <a:solidFill>
                <a:schemeClr val="dk1"/>
              </a:solidFill>
            </a:endParaRPr>
          </a:p>
          <a:p>
            <a:pPr indent="-571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 : </a:t>
            </a:r>
            <a:r>
              <a:rPr lang="en" sz="1100">
                <a:solidFill>
                  <a:schemeClr val="dk1"/>
                </a:solidFill>
              </a:rPr>
              <a:t>It is used to send data back to the client.</a:t>
            </a:r>
            <a:endParaRPr sz="1100">
              <a:solidFill>
                <a:schemeClr val="dk1"/>
              </a:solidFill>
            </a:endParaRPr>
          </a:p>
          <a:p>
            <a:pPr indent="-571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res.send(students) : send()</a:t>
            </a:r>
            <a:r>
              <a:rPr lang="en" sz="1100">
                <a:solidFill>
                  <a:schemeClr val="dk1"/>
                </a:solidFill>
              </a:rPr>
              <a:t> sends the response. Here, all students data is being sent to the client.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808000" y="3804200"/>
            <a:ext cx="3039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Overall Flow</a:t>
            </a:r>
            <a:endParaRPr sz="1100">
              <a:solidFill>
                <a:schemeClr val="dk1"/>
              </a:solidFill>
            </a:endParaRPr>
          </a:p>
          <a:p>
            <a:pPr indent="-698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Client sends request →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/students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698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getStudents()</a:t>
            </a:r>
            <a:r>
              <a:rPr lang="en" sz="1100">
                <a:solidFill>
                  <a:schemeClr val="dk1"/>
                </a:solidFill>
              </a:rPr>
              <a:t> function runs</a:t>
            </a:r>
            <a:endParaRPr sz="1100">
              <a:solidFill>
                <a:schemeClr val="dk1"/>
              </a:solidFill>
            </a:endParaRPr>
          </a:p>
          <a:p>
            <a:pPr indent="-698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Server sends all students data back to the client/browser.</a:t>
            </a:r>
            <a:endParaRPr/>
          </a:p>
        </p:txBody>
      </p:sp>
      <p:cxnSp>
        <p:nvCxnSpPr>
          <p:cNvPr id="178" name="Google Shape;178;p23"/>
          <p:cNvCxnSpPr>
            <a:stCxn id="176" idx="1"/>
          </p:cNvCxnSpPr>
          <p:nvPr/>
        </p:nvCxnSpPr>
        <p:spPr>
          <a:xfrm rot="10800000">
            <a:off x="3854825" y="3246000"/>
            <a:ext cx="1617600" cy="71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4" name="Google Shape;184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391900" y="78593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</a:t>
            </a:r>
            <a:r>
              <a:rPr b="1" lang="en"/>
              <a:t>. Routes Folder:</a:t>
            </a:r>
            <a:endParaRPr b="1"/>
          </a:p>
        </p:txBody>
      </p:sp>
      <p:sp>
        <p:nvSpPr>
          <p:cNvPr id="187" name="Google Shape;187;p24"/>
          <p:cNvSpPr txBox="1"/>
          <p:nvPr/>
        </p:nvSpPr>
        <p:spPr>
          <a:xfrm>
            <a:off x="567150" y="1201813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Routes handle:</a:t>
            </a:r>
            <a:endParaRPr sz="12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incoming requests</a:t>
            </a:r>
            <a:endParaRPr sz="12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URLs</a:t>
            </a:r>
            <a:endParaRPr sz="12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API endpoints</a:t>
            </a:r>
            <a:endParaRPr sz="1200"/>
          </a:p>
        </p:txBody>
      </p:sp>
      <p:sp>
        <p:nvSpPr>
          <p:cNvPr id="188" name="Google Shape;188;p24"/>
          <p:cNvSpPr txBox="1"/>
          <p:nvPr/>
        </p:nvSpPr>
        <p:spPr>
          <a:xfrm>
            <a:off x="4913300" y="827713"/>
            <a:ext cx="30000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Examples: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/students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/users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/products</a:t>
            </a:r>
            <a:endParaRPr sz="1200"/>
          </a:p>
        </p:txBody>
      </p:sp>
      <p:sp>
        <p:nvSpPr>
          <p:cNvPr id="189" name="Google Shape;189;p24"/>
          <p:cNvSpPr txBox="1"/>
          <p:nvPr/>
        </p:nvSpPr>
        <p:spPr>
          <a:xfrm>
            <a:off x="675575" y="2125213"/>
            <a:ext cx="626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Routes execute the correct</a:t>
            </a:r>
            <a:r>
              <a:rPr b="1" lang="en" sz="1200"/>
              <a:t> controller function</a:t>
            </a:r>
            <a:r>
              <a:rPr lang="en" sz="1200"/>
              <a:t> when a request comes from frontend. </a:t>
            </a:r>
            <a:endParaRPr sz="1200"/>
          </a:p>
        </p:txBody>
      </p:sp>
      <p:sp>
        <p:nvSpPr>
          <p:cNvPr id="190" name="Google Shape;190;p24"/>
          <p:cNvSpPr txBox="1"/>
          <p:nvPr/>
        </p:nvSpPr>
        <p:spPr>
          <a:xfrm>
            <a:off x="610950" y="2517825"/>
            <a:ext cx="3464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Suppose frontend sends request: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   ====&gt;   /students</a:t>
            </a:r>
            <a:endParaRPr/>
          </a:p>
        </p:txBody>
      </p:sp>
      <p:sp>
        <p:nvSpPr>
          <p:cNvPr id="191" name="Google Shape;191;p24"/>
          <p:cNvSpPr txBox="1"/>
          <p:nvPr/>
        </p:nvSpPr>
        <p:spPr>
          <a:xfrm>
            <a:off x="610950" y="3372400"/>
            <a:ext cx="65640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backend must decide: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which function should run?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which logic should execute?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👉 This decision is made by Routes.</a:t>
            </a:r>
            <a:endParaRPr/>
          </a:p>
        </p:txBody>
      </p:sp>
      <p:sp>
        <p:nvSpPr>
          <p:cNvPr id="192" name="Google Shape;192;p24"/>
          <p:cNvSpPr txBox="1"/>
          <p:nvPr/>
        </p:nvSpPr>
        <p:spPr>
          <a:xfrm>
            <a:off x="5328500" y="2962225"/>
            <a:ext cx="2584800" cy="1800900"/>
          </a:xfrm>
          <a:prstGeom prst="rect">
            <a:avLst/>
          </a:prstGeom>
          <a:solidFill>
            <a:srgbClr val="A4C2F4"/>
          </a:solidFill>
          <a:ln>
            <a:noFill/>
          </a:ln>
          <a:effectLst>
            <a:outerShdw blurRad="257175" rotWithShape="0" algn="bl" dir="7200000" dist="3810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Frontend Request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↓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Routes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↓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Controller Function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↓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Response Sent Back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8" name="Google Shape;198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5"/>
          <p:cNvSpPr txBox="1"/>
          <p:nvPr/>
        </p:nvSpPr>
        <p:spPr>
          <a:xfrm>
            <a:off x="648400" y="785950"/>
            <a:ext cx="49254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Real-Life Analogy 🚦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Routes = Receptionist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Imagine a hospital: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Patient comes to reception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Receptionist checks requirement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Sends patient to correct doctor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01" name="Google Shape;20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5850" y="1058825"/>
            <a:ext cx="3666601" cy="2929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 txBox="1"/>
          <p:nvPr/>
        </p:nvSpPr>
        <p:spPr>
          <a:xfrm>
            <a:off x="762325" y="2768925"/>
            <a:ext cx="33834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Similarly: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Frontend sends request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Routes receive request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Routes send request to correct controller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025" y="3186575"/>
            <a:ext cx="4173601" cy="1720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/>
        </p:nvSpPr>
        <p:spPr>
          <a:xfrm>
            <a:off x="358975" y="2763950"/>
            <a:ext cx="417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Code Examples: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5688775" y="3781850"/>
            <a:ext cx="2430000" cy="1125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When frontend requests: </a:t>
            </a:r>
            <a:r>
              <a:rPr b="1" lang="en" sz="1000"/>
              <a:t> GET /students</a:t>
            </a:r>
            <a:endParaRPr b="1"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T</a:t>
            </a:r>
            <a:r>
              <a:rPr lang="en" sz="1200"/>
              <a:t>hen </a:t>
            </a:r>
            <a:r>
              <a:rPr b="1" lang="en" sz="1200"/>
              <a:t>getStudents </a:t>
            </a:r>
            <a:r>
              <a:rPr lang="en" sz="1200"/>
              <a:t>controller function executes.</a:t>
            </a:r>
            <a:endParaRPr sz="1200"/>
          </a:p>
        </p:txBody>
      </p:sp>
      <p:cxnSp>
        <p:nvCxnSpPr>
          <p:cNvPr id="213" name="Google Shape;213;p26"/>
          <p:cNvCxnSpPr>
            <a:stCxn id="212" idx="1"/>
          </p:cNvCxnSpPr>
          <p:nvPr/>
        </p:nvCxnSpPr>
        <p:spPr>
          <a:xfrm flipH="1">
            <a:off x="2850175" y="4344500"/>
            <a:ext cx="2838600" cy="118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4" name="Google Shape;21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0625" y="914175"/>
            <a:ext cx="6237704" cy="160056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0" name="Google Shape;220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27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a college admission system where students are allowed to enter completely random data.</a:t>
            </a:r>
            <a:endParaRPr b="1" sz="11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One student enters only name, another enters only phone number, someone forgets age, someone skips gender, and someone writes random unnecessary data.</a:t>
            </a:r>
            <a:endParaRPr b="1" sz="11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kind of problems do you think the college management system will face ?</a:t>
            </a:r>
            <a:endParaRPr b="1" sz="11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27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374" y="2628075"/>
            <a:ext cx="2372425" cy="190857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224" name="Google Shape;2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2550" y="1850625"/>
            <a:ext cx="4405799" cy="29451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8588" rotWithShape="0" algn="bl" dir="6600000" dist="47625">
              <a:srgbClr val="000000">
                <a:alpha val="50000"/>
              </a:srgbClr>
            </a:outerShdw>
          </a:effectLst>
        </p:spPr>
      </p:pic>
      <p:sp>
        <p:nvSpPr>
          <p:cNvPr id="225" name="Google Shape;225;p27"/>
          <p:cNvSpPr/>
          <p:nvPr/>
        </p:nvSpPr>
        <p:spPr>
          <a:xfrm>
            <a:off x="1963200" y="2109775"/>
            <a:ext cx="1226700" cy="5727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2094550" y="2109775"/>
            <a:ext cx="10164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models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2" name="Google Shape;232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28"/>
          <p:cNvSpPr txBox="1"/>
          <p:nvPr/>
        </p:nvSpPr>
        <p:spPr>
          <a:xfrm>
            <a:off x="411825" y="1011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Understanding Each Folder :-</a:t>
            </a:r>
            <a:endParaRPr b="1"/>
          </a:p>
        </p:txBody>
      </p:sp>
      <p:sp>
        <p:nvSpPr>
          <p:cNvPr id="235" name="Google Shape;235;p28"/>
          <p:cNvSpPr txBox="1"/>
          <p:nvPr/>
        </p:nvSpPr>
        <p:spPr>
          <a:xfrm>
            <a:off x="411825" y="1507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3. Models Folder:</a:t>
            </a:r>
            <a:endParaRPr b="1"/>
          </a:p>
        </p:txBody>
      </p:sp>
      <p:sp>
        <p:nvSpPr>
          <p:cNvPr id="236" name="Google Shape;236;p28"/>
          <p:cNvSpPr txBox="1"/>
          <p:nvPr/>
        </p:nvSpPr>
        <p:spPr>
          <a:xfrm>
            <a:off x="496850" y="1907325"/>
            <a:ext cx="446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Models are components in MVC architecture that manage application data, define data structure, and interact with the database </a:t>
            </a:r>
            <a:r>
              <a:rPr lang="en" sz="1200">
                <a:solidFill>
                  <a:schemeClr val="dk1"/>
                </a:solidFill>
              </a:rPr>
              <a:t>inside backend applications. </a:t>
            </a:r>
            <a:endParaRPr sz="1200"/>
          </a:p>
        </p:txBody>
      </p:sp>
      <p:sp>
        <p:nvSpPr>
          <p:cNvPr id="237" name="Google Shape;237;p28"/>
          <p:cNvSpPr txBox="1"/>
          <p:nvPr/>
        </p:nvSpPr>
        <p:spPr>
          <a:xfrm>
            <a:off x="595700" y="2998525"/>
            <a:ext cx="2355000" cy="1708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Models handle:</a:t>
            </a:r>
            <a:endParaRPr sz="1100"/>
          </a:p>
          <a:p>
            <a:pPr indent="-98425" lvl="0" marL="200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data</a:t>
            </a:r>
            <a:endParaRPr sz="1100"/>
          </a:p>
          <a:p>
            <a:pPr indent="-98425" lvl="0" marL="200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schema</a:t>
            </a:r>
            <a:endParaRPr sz="1100"/>
          </a:p>
          <a:p>
            <a:pPr indent="-98425" lvl="0" marL="200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database structure</a:t>
            </a:r>
            <a:endParaRPr sz="1100"/>
          </a:p>
          <a:p>
            <a:pPr indent="-98425" lvl="0" marL="200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database-related operations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They define:</a:t>
            </a:r>
            <a:endParaRPr sz="1100"/>
          </a:p>
          <a:p>
            <a:pPr indent="-98425" lvl="0" marL="200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what type of data will be stored</a:t>
            </a:r>
            <a:endParaRPr sz="1100"/>
          </a:p>
          <a:p>
            <a:pPr indent="-98425" lvl="0" marL="200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how data should look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3" name="Google Shape;243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9"/>
          <p:cNvSpPr txBox="1"/>
          <p:nvPr/>
        </p:nvSpPr>
        <p:spPr>
          <a:xfrm>
            <a:off x="416200" y="943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Example :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478575" y="1282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Suppose we are storing student data.</a:t>
            </a:r>
            <a:endParaRPr sz="1100"/>
          </a:p>
        </p:txBody>
      </p:sp>
      <p:pic>
        <p:nvPicPr>
          <p:cNvPr id="247" name="Google Shape;24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00" y="1695375"/>
            <a:ext cx="1785075" cy="14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599875" y="3452150"/>
            <a:ext cx="2546400" cy="1369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 model defines:</a:t>
            </a:r>
            <a:endParaRPr sz="1100"/>
          </a:p>
          <a:p>
            <a:pPr indent="-1079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which fields should exist</a:t>
            </a:r>
            <a:endParaRPr sz="1100"/>
          </a:p>
          <a:p>
            <a:pPr indent="-1079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what type of data should be stored</a:t>
            </a:r>
            <a:endParaRPr sz="1100"/>
          </a:p>
          <a:p>
            <a:pPr indent="-1079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how data should be organized</a:t>
            </a:r>
            <a:endParaRPr sz="1100"/>
          </a:p>
          <a:p>
            <a:pPr indent="-1079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which fields are required</a:t>
            </a:r>
            <a:endParaRPr sz="1100"/>
          </a:p>
          <a:p>
            <a:pPr indent="-1079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how student records should look inside the database</a:t>
            </a:r>
            <a:endParaRPr sz="1100"/>
          </a:p>
        </p:txBody>
      </p:sp>
      <p:pic>
        <p:nvPicPr>
          <p:cNvPr id="249" name="Google Shape;24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7125" y="1184650"/>
            <a:ext cx="4834575" cy="32201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5" name="Google Shape;255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0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Suppose our backend application wants to store student data permanently.</a:t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Where will that data go?</a:t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And where should we write database connection code?</a:t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8" name="Google Shape;258;p30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7525" y="1663350"/>
            <a:ext cx="3628925" cy="2919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MVC Architecture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" name="Google Shape;264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411825" y="1011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Understanding Each Folder :-</a:t>
            </a:r>
            <a:endParaRPr b="1"/>
          </a:p>
        </p:txBody>
      </p:sp>
      <p:sp>
        <p:nvSpPr>
          <p:cNvPr id="267" name="Google Shape;267;p31"/>
          <p:cNvSpPr txBox="1"/>
          <p:nvPr/>
        </p:nvSpPr>
        <p:spPr>
          <a:xfrm>
            <a:off x="443300" y="1411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</a:t>
            </a:r>
            <a:r>
              <a:rPr b="1" lang="en"/>
              <a:t>. Database Folder:</a:t>
            </a:r>
            <a:endParaRPr b="1"/>
          </a:p>
        </p:txBody>
      </p:sp>
      <p:sp>
        <p:nvSpPr>
          <p:cNvPr id="268" name="Google Shape;268;p31"/>
          <p:cNvSpPr txBox="1"/>
          <p:nvPr/>
        </p:nvSpPr>
        <p:spPr>
          <a:xfrm>
            <a:off x="443300" y="1871600"/>
            <a:ext cx="388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professional backend applications, developers usually create a separate database folder to manage database connection setup. </a:t>
            </a:r>
            <a:endParaRPr sz="1200"/>
          </a:p>
        </p:txBody>
      </p:sp>
      <p:sp>
        <p:nvSpPr>
          <p:cNvPr id="269" name="Google Shape;269;p31"/>
          <p:cNvSpPr txBox="1"/>
          <p:nvPr/>
        </p:nvSpPr>
        <p:spPr>
          <a:xfrm>
            <a:off x="561025" y="303840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folder usually contains:</a:t>
            </a:r>
            <a:endParaRPr sz="1100"/>
          </a:p>
          <a:p>
            <a:pPr indent="-127000" lvl="0" marL="200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MongoDB connection code</a:t>
            </a:r>
            <a:endParaRPr sz="1100"/>
          </a:p>
          <a:p>
            <a:pPr indent="-127000" lvl="0" marL="200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database configuration</a:t>
            </a:r>
            <a:endParaRPr sz="1100"/>
          </a:p>
          <a:p>
            <a:pPr indent="-127000" lvl="0" marL="200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connection setup logic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270" name="Google Shape;2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4250" y="1053525"/>
            <a:ext cx="2148350" cy="33403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6" name="Google Shape;276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main purpose of MVC Architecture in backend development?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310900" y="1748350"/>
            <a:ext cx="80847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	a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To increase internet speed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	b. To organize backend code properly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	c. To design frontend UI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	d. To install Node.js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9" name="Google Shape;279;p3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2"/>
          <p:cNvSpPr txBox="1"/>
          <p:nvPr/>
        </p:nvSpPr>
        <p:spPr>
          <a:xfrm>
            <a:off x="310900" y="2841850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To organize backend code properly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2" name="Google Shape;282;p32"/>
          <p:cNvGrpSpPr/>
          <p:nvPr/>
        </p:nvGrpSpPr>
        <p:grpSpPr>
          <a:xfrm>
            <a:off x="310900" y="3566038"/>
            <a:ext cx="6044700" cy="1232513"/>
            <a:chOff x="310900" y="3959263"/>
            <a:chExt cx="6044700" cy="1232513"/>
          </a:xfrm>
        </p:grpSpPr>
        <p:sp>
          <p:nvSpPr>
            <p:cNvPr id="283" name="Google Shape;283;p3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84" name="Google Shape;284;p32"/>
            <p:cNvSpPr txBox="1"/>
            <p:nvPr/>
          </p:nvSpPr>
          <p:spPr>
            <a:xfrm>
              <a:off x="1646800" y="4006475"/>
              <a:ext cx="4708800" cy="118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MVC separates backend application into different parts like: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Models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Views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Controllers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0" name="Google Shape;290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MVC component contains the main backend logic?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310900" y="1748350"/>
            <a:ext cx="8084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Models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Routes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Controllers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Database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3" name="Google Shape;293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33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Controllers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6" name="Google Shape;296;p33"/>
          <p:cNvGrpSpPr/>
          <p:nvPr/>
        </p:nvGrpSpPr>
        <p:grpSpPr>
          <a:xfrm>
            <a:off x="310900" y="3959263"/>
            <a:ext cx="6005825" cy="1185313"/>
            <a:chOff x="310900" y="3959263"/>
            <a:chExt cx="6005825" cy="1185313"/>
          </a:xfrm>
        </p:grpSpPr>
        <p:sp>
          <p:nvSpPr>
            <p:cNvPr id="297" name="Google Shape;297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98" name="Google Shape;298;p33"/>
            <p:cNvSpPr txBox="1"/>
            <p:nvPr/>
          </p:nvSpPr>
          <p:spPr>
            <a:xfrm>
              <a:off x="1607925" y="3959275"/>
              <a:ext cx="4708800" cy="118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Controllers handle: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application logic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request processing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response handling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4" name="Google Shape;304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4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role of Models in MVC architecture?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34"/>
          <p:cNvSpPr txBox="1"/>
          <p:nvPr/>
        </p:nvSpPr>
        <p:spPr>
          <a:xfrm>
            <a:off x="310900" y="1748350"/>
            <a:ext cx="8084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Handle frontend styling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Manage application data and structure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Start the server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Create routes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7" name="Google Shape;307;p3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34"/>
          <p:cNvSpPr txBox="1"/>
          <p:nvPr/>
        </p:nvSpPr>
        <p:spPr>
          <a:xfrm>
            <a:off x="310950" y="277577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B. Manage application data and structure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10" name="Google Shape;310;p34"/>
          <p:cNvGrpSpPr/>
          <p:nvPr/>
        </p:nvGrpSpPr>
        <p:grpSpPr>
          <a:xfrm>
            <a:off x="310900" y="3421313"/>
            <a:ext cx="6005825" cy="1185313"/>
            <a:chOff x="310900" y="3959263"/>
            <a:chExt cx="6005825" cy="1185313"/>
          </a:xfrm>
        </p:grpSpPr>
        <p:sp>
          <p:nvSpPr>
            <p:cNvPr id="311" name="Google Shape;311;p3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12" name="Google Shape;312;p34"/>
            <p:cNvSpPr txBox="1"/>
            <p:nvPr/>
          </p:nvSpPr>
          <p:spPr>
            <a:xfrm>
              <a:off x="1607925" y="3959275"/>
              <a:ext cx="4708800" cy="118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Models are responsible for: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organizing data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defining data structure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interacting with database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8" name="Google Shape;318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5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6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26" name="Google Shape;326;p36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6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328" name="Google Shape;328;p36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29" name="Google Shape;329;p36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30" name="Google Shape;330;p36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36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32" name="Google Shape;332;p36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6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36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5" name="Google Shape;335;p36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