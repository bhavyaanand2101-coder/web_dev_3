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Roboto Slab"/>
      <p:regular r:id="rId32"/>
      <p:bold r:id="rId33"/>
    </p:embeddedFont>
    <p:embeddedFont>
      <p:font typeface="Poppins"/>
      <p:regular r:id="rId34"/>
      <p:bold r:id="rId35"/>
      <p:italic r:id="rId36"/>
      <p:boldItalic r:id="rId37"/>
    </p:embeddedFont>
    <p:embeddedFont>
      <p:font typeface="Roboto Mon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BAC071-AB8F-4406-A833-BBEC27D94190}">
  <a:tblStyle styleId="{58BAC071-AB8F-4406-A833-BBEC27D9419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4.xml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Slab-bold.fntdata"/><Relationship Id="rId10" Type="http://schemas.openxmlformats.org/officeDocument/2006/relationships/slide" Target="slides/slide4.xml"/><Relationship Id="rId32" Type="http://schemas.openxmlformats.org/officeDocument/2006/relationships/font" Target="fonts/RobotoSlab-regular.fntdata"/><Relationship Id="rId13" Type="http://schemas.openxmlformats.org/officeDocument/2006/relationships/slide" Target="slides/slide7.xml"/><Relationship Id="rId35" Type="http://schemas.openxmlformats.org/officeDocument/2006/relationships/font" Target="fonts/Poppins-bold.fntdata"/><Relationship Id="rId12" Type="http://schemas.openxmlformats.org/officeDocument/2006/relationships/slide" Target="slides/slide6.xml"/><Relationship Id="rId34" Type="http://schemas.openxmlformats.org/officeDocument/2006/relationships/font" Target="fonts/Poppins-regular.fntdata"/><Relationship Id="rId15" Type="http://schemas.openxmlformats.org/officeDocument/2006/relationships/slide" Target="slides/slide9.xml"/><Relationship Id="rId37" Type="http://schemas.openxmlformats.org/officeDocument/2006/relationships/font" Target="fonts/Poppins-boldItalic.fntdata"/><Relationship Id="rId14" Type="http://schemas.openxmlformats.org/officeDocument/2006/relationships/slide" Target="slides/slide8.xml"/><Relationship Id="rId36" Type="http://schemas.openxmlformats.org/officeDocument/2006/relationships/font" Target="fonts/Poppins-italic.fntdata"/><Relationship Id="rId17" Type="http://schemas.openxmlformats.org/officeDocument/2006/relationships/slide" Target="slides/slide11.xml"/><Relationship Id="rId39" Type="http://schemas.openxmlformats.org/officeDocument/2006/relationships/font" Target="fonts/RobotoMono-bold.fntdata"/><Relationship Id="rId16" Type="http://schemas.openxmlformats.org/officeDocument/2006/relationships/slide" Target="slides/slide10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2286a68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2286a68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2286a68e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2286a68e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2286a68e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2286a68e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4af01ec7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4af01ec7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4af01ec73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4af01ec73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4af01ec73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4af01ec73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4af01ec73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4af01ec73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4af01ec73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4af01ec73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4af01ec73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4af01ec73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4af01ec73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4af01ec73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4af01ec73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4af01ec73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4af01ec73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f4af01ec73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4af01ec73_1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4af01ec73_1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4af01ec73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4af01ec73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80289471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80289471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80289471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80289471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80289471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80289471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80289471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f80289471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802894715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80289471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802894715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802894715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2286a68e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e2286a68e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80289471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f80289471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802894715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f802894715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4d3814291_5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4d3814291_5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4d3814291_5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f4d3814291_5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s://learn.microsoft.com/en-us/windows/win32/api/_http/" TargetMode="External"/><Relationship Id="rId10" Type="http://schemas.openxmlformats.org/officeDocument/2006/relationships/hyperlink" Target="https://www.nwkings.com/the-difference-between-http-and-https-protocol" TargetMode="External"/><Relationship Id="rId13" Type="http://schemas.openxmlformats.org/officeDocument/2006/relationships/image" Target="../media/image14.png"/><Relationship Id="rId12" Type="http://schemas.openxmlformats.org/officeDocument/2006/relationships/hyperlink" Target="https://learn.microsoft.com/en-us/windows/win32/api/_http/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hyperlink" Target="https://theauthapi.com/articles/securing-javascript-client-to-server-communications/" TargetMode="External"/><Relationship Id="rId9" Type="http://schemas.openxmlformats.org/officeDocument/2006/relationships/hyperlink" Target="https://www.nwkings.com/the-difference-between-http-and-https-protocol" TargetMode="External"/><Relationship Id="rId5" Type="http://schemas.openxmlformats.org/officeDocument/2006/relationships/hyperlink" Target="https://www.zen8labs.com/insights/development/nextjs-client-components-vs-server-components-what-is-it/" TargetMode="External"/><Relationship Id="rId6" Type="http://schemas.openxmlformats.org/officeDocument/2006/relationships/hyperlink" Target="https://www.zen8labs.com/insights/development/nextjs-client-components-vs-server-components-what-is-it/" TargetMode="External"/><Relationship Id="rId7" Type="http://schemas.openxmlformats.org/officeDocument/2006/relationships/hyperlink" Target="https://doc.sitespect.com/knowledge/engine-api-reference" TargetMode="External"/><Relationship Id="rId8" Type="http://schemas.openxmlformats.org/officeDocument/2006/relationships/hyperlink" Target="https://doc.sitespect.com/knowledge/engine-api-referenc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hyperlink" Target="http://express.js" TargetMode="External"/><Relationship Id="rId5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hyperlink" Target="https://developer.mozilla.org/en-US/docs/Learn_web_development/Extensions/Server-side/Express_Nodejs" TargetMode="External"/><Relationship Id="rId5" Type="http://schemas.openxmlformats.org/officeDocument/2006/relationships/hyperlink" Target="https://www.w3schools.com/nodejs/nodejs_express.asp" TargetMode="External"/><Relationship Id="rId6" Type="http://schemas.openxmlformats.org/officeDocument/2006/relationships/hyperlink" Target="https://expressjs.com/en/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6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2925" y="3857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247500" y="2017650"/>
            <a:ext cx="47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4" name="Google Shape;64;p13"/>
          <p:cNvGrpSpPr/>
          <p:nvPr/>
        </p:nvGrpSpPr>
        <p:grpSpPr>
          <a:xfrm>
            <a:off x="309849" y="1233369"/>
            <a:ext cx="3415942" cy="2387863"/>
            <a:chOff x="788865" y="1515488"/>
            <a:chExt cx="4594407" cy="2387863"/>
          </a:xfrm>
        </p:grpSpPr>
        <p:sp>
          <p:nvSpPr>
            <p:cNvPr id="65" name="Google Shape;65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11</a:t>
              </a:r>
              <a:r>
                <a:rPr lang="en" sz="2700">
                  <a:solidFill>
                    <a:schemeClr val="lt1"/>
                  </a:solidFill>
                </a:rPr>
                <a:t>:</a:t>
              </a:r>
              <a:endParaRPr sz="2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6" name="Google Shape;66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90272" y="2145213"/>
              <a:ext cx="4593000" cy="113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lt1"/>
                  </a:solidFill>
                </a:rPr>
                <a:t>Request &amp; Response Handling</a:t>
              </a:r>
              <a:r>
                <a:rPr lang="en" sz="1900">
                  <a:solidFill>
                    <a:schemeClr val="lt1"/>
                  </a:solidFill>
                </a:rPr>
                <a:t> </a:t>
              </a:r>
              <a:r>
                <a:rPr b="1" lang="en" sz="3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endParaRPr b="1" sz="3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Pratik Raj Verma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69" name="Google Shape;6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0125" y="3941879"/>
            <a:ext cx="548701" cy="3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6925" y="3941876"/>
            <a:ext cx="379415" cy="3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 title="Programming-bro.png"/>
          <p:cNvPicPr preferRelativeResize="0"/>
          <p:nvPr/>
        </p:nvPicPr>
        <p:blipFill rotWithShape="1">
          <a:blip r:embed="rId9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Request-Response Cycle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Request Object (req)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Response Object (res)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References.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The End.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wondered How does Instagram know which posts to show? How does the server understand what we want? 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5" title="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715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wondered How does Instagram know which posts to show? How does the server understand what we want? 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342000" y="1374800"/>
            <a:ext cx="4835700" cy="23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Whenever a user interacts with a website, communication happens between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↔ Server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This communication follows a process called: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300">
                <a:solidFill>
                  <a:schemeClr val="dk1"/>
                </a:solidFill>
              </a:rPr>
              <a:t>Request-Response Cycle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0950" y="2180725"/>
            <a:ext cx="3661500" cy="1833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4" name="Google Shape;104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 </a:t>
            </a:r>
            <a:r>
              <a:rPr b="1" lang="en" sz="2000">
                <a:solidFill>
                  <a:srgbClr val="073763"/>
                </a:solidFill>
              </a:rPr>
              <a:t>Request-Response Cycle </a:t>
            </a:r>
            <a:endParaRPr b="1" sz="26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5547050" y="19835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7500" y="1011575"/>
            <a:ext cx="5789007" cy="38593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" name="Google Shape;109;p17"/>
          <p:cNvSpPr txBox="1"/>
          <p:nvPr/>
        </p:nvSpPr>
        <p:spPr>
          <a:xfrm>
            <a:off x="859675" y="1088475"/>
            <a:ext cx="727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5" name="Google Shape;115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576075" y="210300"/>
            <a:ext cx="72237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 </a:t>
            </a:r>
            <a:r>
              <a:rPr b="1" lang="en" sz="2000">
                <a:solidFill>
                  <a:srgbClr val="073763"/>
                </a:solidFill>
              </a:rPr>
              <a:t>Request-Response Cycle</a:t>
            </a:r>
            <a:endParaRPr b="1" sz="26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311700" y="1128575"/>
            <a:ext cx="5037000" cy="3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The Request-Response Cycle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Client</a:t>
            </a:r>
            <a:r>
              <a:rPr lang="en" sz="1200">
                <a:solidFill>
                  <a:schemeClr val="dk1"/>
                </a:solidFill>
              </a:rPr>
              <a:t>: A user interacts with a device (like a web browser or mobile app).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Request</a:t>
            </a:r>
            <a:r>
              <a:rPr lang="en" sz="1200">
                <a:solidFill>
                  <a:schemeClr val="dk1"/>
                </a:solidFill>
              </a:rPr>
              <a:t>: The client sends an HTTP request over the internet containing data, headers, and a specific URL action.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Server</a:t>
            </a:r>
            <a:r>
              <a:rPr lang="en" sz="1200">
                <a:solidFill>
                  <a:schemeClr val="dk1"/>
                </a:solidFill>
              </a:rPr>
              <a:t>: A remote computer hosting the application receives the incoming network request.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Processing</a:t>
            </a:r>
            <a:r>
              <a:rPr lang="en" sz="1200">
                <a:solidFill>
                  <a:schemeClr val="dk1"/>
                </a:solidFill>
              </a:rPr>
              <a:t>: The server executes backend code, validates data, and queries databases to build the requested information.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Response</a:t>
            </a:r>
            <a:r>
              <a:rPr lang="en" sz="1200">
                <a:solidFill>
                  <a:schemeClr val="dk1"/>
                </a:solidFill>
              </a:rPr>
              <a:t>: The server packages the result (like HTML, JSON, or images) into an HTTP response.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Client</a:t>
            </a:r>
            <a:r>
              <a:rPr lang="en" sz="1200">
                <a:solidFill>
                  <a:schemeClr val="dk1"/>
                </a:solidFill>
              </a:rPr>
              <a:t>: The user's device receives the response and renders the visual output on the screen. [</a:t>
            </a:r>
            <a:r>
              <a:rPr lang="en" sz="12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r>
              <a:rPr lang="en" sz="1200">
                <a:solidFill>
                  <a:schemeClr val="dk1"/>
                </a:solidFill>
              </a:rPr>
              <a:t>,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dk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</a:t>
            </a:r>
            <a:r>
              <a:rPr lang="en" sz="1200">
                <a:solidFill>
                  <a:schemeClr val="dk1"/>
                </a:solidFill>
              </a:rPr>
              <a:t>,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dk1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3</a:t>
            </a:r>
            <a:r>
              <a:rPr lang="en" sz="1200">
                <a:solidFill>
                  <a:schemeClr val="dk1"/>
                </a:solidFill>
              </a:rPr>
              <a:t>,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dk1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4</a:t>
            </a:r>
            <a:r>
              <a:rPr lang="en" sz="1200">
                <a:solidFill>
                  <a:schemeClr val="dk1"/>
                </a:solidFill>
              </a:rPr>
              <a:t>,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dk1"/>
                </a:solid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</a:t>
            </a:r>
            <a:r>
              <a:rPr lang="en" sz="1200">
                <a:solidFill>
                  <a:schemeClr val="dk1"/>
                </a:solidFill>
              </a:rPr>
              <a:t>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100"/>
              </a:spcBef>
              <a:spcAft>
                <a:spcPts val="7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9" name="Google Shape;119;p18"/>
          <p:cNvSpPr txBox="1"/>
          <p:nvPr/>
        </p:nvSpPr>
        <p:spPr>
          <a:xfrm>
            <a:off x="5547050" y="19835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737525" y="1468738"/>
            <a:ext cx="2853626" cy="27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650">
                <a:solidFill>
                  <a:srgbClr val="073763"/>
                </a:solidFill>
              </a:rPr>
              <a:t>Request Object (req)</a:t>
            </a:r>
            <a:r>
              <a:rPr b="1" lang="en" sz="265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65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6" name="Google Shape;126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485600" y="1347450"/>
            <a:ext cx="5417100" cy="21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 </a:t>
            </a:r>
            <a:r>
              <a:rPr b="1" lang="en" sz="1100">
                <a:solidFill>
                  <a:schemeClr val="dk1"/>
                </a:solidFill>
              </a:rPr>
              <a:t>Request</a:t>
            </a:r>
            <a:r>
              <a:rPr lang="en" sz="1100">
                <a:solidFill>
                  <a:schemeClr val="dk1"/>
                </a:solidFill>
              </a:rPr>
              <a:t> is a message sent by the </a:t>
            </a:r>
            <a:r>
              <a:rPr b="1" lang="en" sz="1100">
                <a:solidFill>
                  <a:schemeClr val="dk1"/>
                </a:solidFill>
              </a:rPr>
              <a:t>client</a:t>
            </a:r>
            <a:r>
              <a:rPr lang="en" sz="1100">
                <a:solidFill>
                  <a:schemeClr val="dk1"/>
                </a:solidFill>
              </a:rPr>
              <a:t> (browser, mobile app, or frontend) to the </a:t>
            </a:r>
            <a:r>
              <a:rPr b="1" lang="en" sz="1100">
                <a:solidFill>
                  <a:schemeClr val="dk1"/>
                </a:solidFill>
              </a:rPr>
              <a:t>server</a:t>
            </a:r>
            <a:r>
              <a:rPr lang="en" sz="1100">
                <a:solidFill>
                  <a:schemeClr val="dk1"/>
                </a:solidFill>
              </a:rPr>
              <a:t> asking for data or requesting an action. Whenever a user clicks a button, submits a form, or visits a webpage, a request is sent to the server.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GET /students</a:t>
            </a:r>
            <a:r>
              <a:rPr lang="en" sz="1100">
                <a:solidFill>
                  <a:schemeClr val="dk1"/>
                </a:solidFill>
              </a:rPr>
              <a:t> → Get all student data.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POST /students</a:t>
            </a:r>
            <a:r>
              <a:rPr lang="en" sz="1100">
                <a:solidFill>
                  <a:schemeClr val="dk1"/>
                </a:solidFill>
              </a:rPr>
              <a:t> → Add a new student.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chemeClr val="dk1"/>
                </a:solidFill>
              </a:rPr>
              <a:t>client always starts the communication</a:t>
            </a:r>
            <a:r>
              <a:rPr lang="en" sz="1100">
                <a:solidFill>
                  <a:schemeClr val="dk1"/>
                </a:solidFill>
              </a:rPr>
              <a:t>, and the server processes the request and sends back a response.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650">
                <a:solidFill>
                  <a:srgbClr val="073763"/>
                </a:solidFill>
              </a:rPr>
              <a:t>Request Object (req)</a:t>
            </a:r>
            <a:r>
              <a:rPr b="1" lang="en" sz="265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65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4" name="Google Shape;134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0"/>
          <p:cNvSpPr txBox="1"/>
          <p:nvPr/>
        </p:nvSpPr>
        <p:spPr>
          <a:xfrm>
            <a:off x="485625" y="998250"/>
            <a:ext cx="4992900" cy="3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Understanding Request Object (</a:t>
            </a: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b="1" lang="en" sz="1100">
                <a:solidFill>
                  <a:schemeClr val="dk1"/>
                </a:solidFill>
              </a:rPr>
              <a:t>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Whenever a client sends a request to an Express server, Express automatically creates a </a:t>
            </a:r>
            <a:r>
              <a:rPr b="1" lang="en" sz="1100">
                <a:solidFill>
                  <a:schemeClr val="dk1"/>
                </a:solidFill>
              </a:rPr>
              <a:t>Request Object (</a:t>
            </a: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b="1" lang="en" sz="1100">
                <a:solidFill>
                  <a:schemeClr val="dk1"/>
                </a:solidFill>
              </a:rPr>
              <a:t>)</a:t>
            </a:r>
            <a:r>
              <a:rPr lang="en" sz="1100">
                <a:solidFill>
                  <a:schemeClr val="dk1"/>
                </a:solidFill>
              </a:rPr>
              <a:t>. This object contains all the information related to the incoming request.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Using the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en" sz="1100">
                <a:solidFill>
                  <a:schemeClr val="dk1"/>
                </a:solidFill>
              </a:rPr>
              <a:t> object, we can access details such as: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URL</a:t>
            </a:r>
            <a:r>
              <a:rPr lang="en" sz="1100">
                <a:solidFill>
                  <a:schemeClr val="dk1"/>
                </a:solidFill>
              </a:rPr>
              <a:t> → The requested route (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/students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Method</a:t>
            </a:r>
            <a:r>
              <a:rPr lang="en" sz="1100">
                <a:solidFill>
                  <a:schemeClr val="dk1"/>
                </a:solidFill>
              </a:rPr>
              <a:t> → Request type (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GET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POST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PUT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DELETE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Body Data</a:t>
            </a:r>
            <a:r>
              <a:rPr lang="en" sz="1100">
                <a:solidFill>
                  <a:schemeClr val="dk1"/>
                </a:solidFill>
              </a:rPr>
              <a:t> → Data sent by the client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Query Parameters</a:t>
            </a:r>
            <a:r>
              <a:rPr lang="en" sz="1100">
                <a:solidFill>
                  <a:schemeClr val="dk1"/>
                </a:solidFill>
              </a:rPr>
              <a:t> → Data passed in the URL query string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Route Parameters</a:t>
            </a:r>
            <a:r>
              <a:rPr lang="en" sz="1100">
                <a:solidFill>
                  <a:schemeClr val="dk1"/>
                </a:solidFill>
              </a:rPr>
              <a:t> → Dynamic values in the URL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Headers</a:t>
            </a:r>
            <a:r>
              <a:rPr lang="en" sz="1100">
                <a:solidFill>
                  <a:schemeClr val="dk1"/>
                </a:solidFill>
              </a:rPr>
              <a:t> → Additional request information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In simple words, the </a:t>
            </a: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b="1" lang="en" sz="1100">
                <a:solidFill>
                  <a:schemeClr val="dk1"/>
                </a:solidFill>
              </a:rPr>
              <a:t> object helps the server understand what the client is asking for and what data has been sent with the request.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6875" y="1418777"/>
            <a:ext cx="2993924" cy="288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650">
                <a:solidFill>
                  <a:srgbClr val="073763"/>
                </a:solidFill>
              </a:rPr>
              <a:t>Request Object (req)</a:t>
            </a:r>
            <a:r>
              <a:rPr b="1" lang="en" sz="265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65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3" name="Google Shape;143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1"/>
          <p:cNvSpPr txBox="1"/>
          <p:nvPr/>
        </p:nvSpPr>
        <p:spPr>
          <a:xfrm>
            <a:off x="430900" y="10115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Request Object Example </a:t>
            </a:r>
            <a:endParaRPr sz="1200"/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013" y="1652588"/>
            <a:ext cx="2771775" cy="18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/>
        </p:nvSpPr>
        <p:spPr>
          <a:xfrm>
            <a:off x="5362400" y="2147375"/>
            <a:ext cx="3000000" cy="648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eq : contains all information about the incoming request.</a:t>
            </a:r>
            <a:endParaRPr/>
          </a:p>
        </p:txBody>
      </p:sp>
      <p:cxnSp>
        <p:nvCxnSpPr>
          <p:cNvPr id="148" name="Google Shape;148;p21"/>
          <p:cNvCxnSpPr>
            <a:stCxn id="147" idx="1"/>
          </p:cNvCxnSpPr>
          <p:nvPr/>
        </p:nvCxnSpPr>
        <p:spPr>
          <a:xfrm rot="10800000">
            <a:off x="2400800" y="2330375"/>
            <a:ext cx="2961600" cy="1410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650">
                <a:solidFill>
                  <a:srgbClr val="073763"/>
                </a:solidFill>
              </a:rPr>
              <a:t>Request Object (req)</a:t>
            </a:r>
            <a:r>
              <a:rPr b="1" lang="en" sz="265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65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4" name="Google Shape;154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6" name="Google Shape;156;p22" title="ChatGPT Image Jul 13, 2026, 01_10_17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0387" y="1011575"/>
            <a:ext cx="5363224" cy="3575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650">
                <a:solidFill>
                  <a:srgbClr val="073763"/>
                </a:solidFill>
              </a:rPr>
              <a:t>Request Object (req)</a:t>
            </a:r>
            <a:r>
              <a:rPr b="1" lang="en" sz="265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65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2" name="Google Shape;162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3"/>
          <p:cNvSpPr txBox="1"/>
          <p:nvPr/>
        </p:nvSpPr>
        <p:spPr>
          <a:xfrm>
            <a:off x="348850" y="1011575"/>
            <a:ext cx="4664700" cy="3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req.body</a:t>
            </a:r>
            <a:endParaRPr b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req.body</a:t>
            </a:r>
            <a:r>
              <a:rPr lang="en" sz="1100">
                <a:solidFill>
                  <a:schemeClr val="dk1"/>
                </a:solidFill>
              </a:rPr>
              <a:t> property is used to receive data sent by the client in the request body. It is commonly used when creating, updating, or modifying data on the server.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req.body</a:t>
            </a:r>
            <a:r>
              <a:rPr lang="en" sz="1100">
                <a:solidFill>
                  <a:schemeClr val="dk1"/>
                </a:solidFill>
              </a:rPr>
              <a:t> is mostly used with: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POST</a:t>
            </a:r>
            <a:r>
              <a:rPr lang="en" sz="1100">
                <a:solidFill>
                  <a:schemeClr val="dk1"/>
                </a:solidFill>
              </a:rPr>
              <a:t> → Create new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PUT</a:t>
            </a:r>
            <a:r>
              <a:rPr lang="en" sz="1100">
                <a:solidFill>
                  <a:schemeClr val="dk1"/>
                </a:solidFill>
              </a:rPr>
              <a:t> → Update existing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PATCH</a:t>
            </a:r>
            <a:r>
              <a:rPr lang="en" sz="1100">
                <a:solidFill>
                  <a:schemeClr val="dk1"/>
                </a:solidFill>
              </a:rPr>
              <a:t> → Partially update data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Then Express stores this data inside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req.body</a:t>
            </a:r>
            <a:r>
              <a:rPr lang="en" sz="1100">
                <a:solidFill>
                  <a:schemeClr val="dk1"/>
                </a:solidFill>
              </a:rPr>
              <a:t>, allowing the server to access and process it easily.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5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65" name="Google Shape;16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275" y="1052325"/>
            <a:ext cx="1609150" cy="12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 txBox="1"/>
          <p:nvPr/>
        </p:nvSpPr>
        <p:spPr>
          <a:xfrm>
            <a:off x="6046350" y="714100"/>
            <a:ext cx="13809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77650" lIns="77650" spcFirstLastPara="1" rIns="77650" wrap="square" tIns="77650">
            <a:spAutoFit/>
          </a:bodyPr>
          <a:lstStyle/>
          <a:p>
            <a:pPr indent="0" lvl="0" marL="0" rtl="0" algn="l">
              <a:spcBef>
                <a:spcPts val="425"/>
              </a:spcBef>
              <a:spcAft>
                <a:spcPts val="425"/>
              </a:spcAft>
              <a:buNone/>
            </a:pPr>
            <a:r>
              <a:rPr lang="en" sz="934">
                <a:solidFill>
                  <a:schemeClr val="dk1"/>
                </a:solidFill>
              </a:rPr>
              <a:t>Example Client Data:</a:t>
            </a:r>
            <a:endParaRPr sz="934">
              <a:solidFill>
                <a:schemeClr val="dk1"/>
              </a:solidFill>
            </a:endParaRPr>
          </a:p>
        </p:txBody>
      </p:sp>
      <p:pic>
        <p:nvPicPr>
          <p:cNvPr id="167" name="Google Shape;16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5550" y="2808150"/>
            <a:ext cx="2817325" cy="185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 txBox="1"/>
          <p:nvPr/>
        </p:nvSpPr>
        <p:spPr>
          <a:xfrm>
            <a:off x="6046350" y="2454150"/>
            <a:ext cx="1853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req.body Example 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650">
                <a:solidFill>
                  <a:srgbClr val="073763"/>
                </a:solidFill>
              </a:rPr>
              <a:t>Request Object (req)</a:t>
            </a:r>
            <a:r>
              <a:rPr b="1" lang="en" sz="265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65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4" name="Google Shape;174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24"/>
          <p:cNvSpPr txBox="1"/>
          <p:nvPr/>
        </p:nvSpPr>
        <p:spPr>
          <a:xfrm>
            <a:off x="311700" y="1155925"/>
            <a:ext cx="48045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req.params</a:t>
            </a:r>
            <a:endParaRPr b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req.params</a:t>
            </a:r>
            <a:r>
              <a:rPr lang="en" sz="1100">
                <a:solidFill>
                  <a:schemeClr val="dk1"/>
                </a:solidFill>
              </a:rPr>
              <a:t> object is used to access </a:t>
            </a:r>
            <a:r>
              <a:rPr b="1" lang="en" sz="1100">
                <a:solidFill>
                  <a:schemeClr val="dk1"/>
                </a:solidFill>
              </a:rPr>
              <a:t>Route Parameters</a:t>
            </a:r>
            <a:r>
              <a:rPr lang="en" sz="1100">
                <a:solidFill>
                  <a:schemeClr val="dk1"/>
                </a:solidFill>
              </a:rPr>
              <a:t>, which are dynamic values present inside the URL. Route parameters help us identify a specific resource, such as a student, product, or user.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300" y="2662325"/>
            <a:ext cx="3323550" cy="124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4"/>
          <p:cNvSpPr txBox="1"/>
          <p:nvPr/>
        </p:nvSpPr>
        <p:spPr>
          <a:xfrm>
            <a:off x="5228625" y="2622300"/>
            <a:ext cx="2404500" cy="1327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Output: 101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Real World Example: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/students/101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/students/102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/students/103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650">
                <a:solidFill>
                  <a:srgbClr val="073763"/>
                </a:solidFill>
              </a:rPr>
              <a:t>Request Object (req)</a:t>
            </a:r>
            <a:r>
              <a:rPr b="1" lang="en" sz="265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65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4" name="Google Shape;184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5"/>
          <p:cNvSpPr txBox="1"/>
          <p:nvPr/>
        </p:nvSpPr>
        <p:spPr>
          <a:xfrm>
            <a:off x="526650" y="1176425"/>
            <a:ext cx="42201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req.query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Query Parameters</a:t>
            </a:r>
            <a:r>
              <a:rPr lang="en" sz="1200">
                <a:solidFill>
                  <a:schemeClr val="dk1"/>
                </a:solidFill>
              </a:rPr>
              <a:t> are values sent in the URL after the </a:t>
            </a:r>
            <a:r>
              <a:rPr b="1" lang="en" sz="1200">
                <a:solidFill>
                  <a:schemeClr val="dk1"/>
                </a:solidFill>
              </a:rPr>
              <a:t>?</a:t>
            </a:r>
            <a:r>
              <a:rPr lang="en" sz="1200">
                <a:solidFill>
                  <a:schemeClr val="dk1"/>
                </a:solidFill>
              </a:rPr>
              <a:t> symbol.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They are used to send </a:t>
            </a:r>
            <a:r>
              <a:rPr b="1" lang="en" sz="1200">
                <a:solidFill>
                  <a:schemeClr val="dk1"/>
                </a:solidFill>
              </a:rPr>
              <a:t>extra information</a:t>
            </a:r>
            <a:r>
              <a:rPr lang="en" sz="1200">
                <a:solidFill>
                  <a:schemeClr val="dk1"/>
                </a:solidFill>
              </a:rPr>
              <a:t> to the server without changing the route.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Example URL:  </a:t>
            </a:r>
            <a:r>
              <a:rPr lang="en" sz="1200">
                <a:solidFill>
                  <a:schemeClr val="dk1"/>
                </a:solidFill>
              </a:rPr>
              <a:t>/students?course=MERN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Here: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/students → Route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course → Query Parameter Name (Key)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MERN → Query Parameter Value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5632375" y="1971125"/>
            <a:ext cx="3000000" cy="1739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Why do we use Query Parameters?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They are commonly used for: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Searching data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Filtering data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Sorting data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Pagination</a:t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650">
                <a:solidFill>
                  <a:srgbClr val="073763"/>
                </a:solidFill>
              </a:rPr>
              <a:t>Request Object (req)</a:t>
            </a:r>
            <a:r>
              <a:rPr b="1" lang="en" sz="265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65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3" name="Google Shape;193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26"/>
          <p:cNvSpPr txBox="1"/>
          <p:nvPr/>
        </p:nvSpPr>
        <p:spPr>
          <a:xfrm>
            <a:off x="587075" y="1011575"/>
            <a:ext cx="3821400" cy="18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req.headers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Headers contain additional information about requests.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Examples: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Authorization Token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Content-Type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Browser Information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Language Settings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648400" y="28592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Used heavily in Authentication. </a:t>
            </a:r>
            <a:endParaRPr sz="1100"/>
          </a:p>
        </p:txBody>
      </p:sp>
      <p:pic>
        <p:nvPicPr>
          <p:cNvPr id="197" name="Google Shape;19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0700" y="1483725"/>
            <a:ext cx="3126525" cy="15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 txBox="1"/>
          <p:nvPr/>
        </p:nvSpPr>
        <p:spPr>
          <a:xfrm>
            <a:off x="4730700" y="1081675"/>
            <a:ext cx="3126600" cy="400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 Code </a:t>
            </a:r>
            <a:endParaRPr/>
          </a:p>
        </p:txBody>
      </p:sp>
      <p:pic>
        <p:nvPicPr>
          <p:cNvPr id="199" name="Google Shape;19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225" y="3746900"/>
            <a:ext cx="3126601" cy="10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6"/>
          <p:cNvSpPr txBox="1"/>
          <p:nvPr/>
        </p:nvSpPr>
        <p:spPr>
          <a:xfrm>
            <a:off x="714225" y="3346700"/>
            <a:ext cx="3126600" cy="400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Accessing Headers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650">
                <a:solidFill>
                  <a:srgbClr val="073763"/>
                </a:solidFill>
              </a:rPr>
              <a:t>Response</a:t>
            </a:r>
            <a:r>
              <a:rPr b="1" lang="en" sz="2650">
                <a:solidFill>
                  <a:srgbClr val="073763"/>
                </a:solidFill>
              </a:rPr>
              <a:t> Object (res)</a:t>
            </a:r>
            <a:r>
              <a:rPr b="1" lang="en" sz="265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65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6" name="Google Shape;206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27"/>
          <p:cNvSpPr txBox="1"/>
          <p:nvPr/>
        </p:nvSpPr>
        <p:spPr>
          <a:xfrm>
            <a:off x="595825" y="1191675"/>
            <a:ext cx="46800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When a client sends a request to the server, the server processes it and sends something back.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chemeClr val="dk1"/>
                </a:solidFill>
              </a:rPr>
              <a:t>Response Object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b="1" lang="en" sz="1100">
                <a:solidFill>
                  <a:schemeClr val="dk1"/>
                </a:solidFill>
              </a:rPr>
              <a:t>)</a:t>
            </a:r>
            <a:r>
              <a:rPr lang="en" sz="1100">
                <a:solidFill>
                  <a:schemeClr val="dk1"/>
                </a:solidFill>
              </a:rPr>
              <a:t> is used to send that response back to the client.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595825" y="2444700"/>
            <a:ext cx="4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Most Common Methods of Response Object  :</a:t>
            </a:r>
            <a:endParaRPr b="1" sz="1100"/>
          </a:p>
        </p:txBody>
      </p:sp>
      <p:sp>
        <p:nvSpPr>
          <p:cNvPr id="210" name="Google Shape;210;p27"/>
          <p:cNvSpPr txBox="1"/>
          <p:nvPr/>
        </p:nvSpPr>
        <p:spPr>
          <a:xfrm>
            <a:off x="893775" y="3128175"/>
            <a:ext cx="2918700" cy="12621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res.send()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res.json()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res.status()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650">
                <a:solidFill>
                  <a:srgbClr val="073763"/>
                </a:solidFill>
              </a:rPr>
              <a:t>Response Object (res)</a:t>
            </a:r>
            <a:r>
              <a:rPr b="1" lang="en" sz="265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65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6" name="Google Shape;216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8"/>
          <p:cNvSpPr txBox="1"/>
          <p:nvPr/>
        </p:nvSpPr>
        <p:spPr>
          <a:xfrm>
            <a:off x="368000" y="1165400"/>
            <a:ext cx="5004300" cy="15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res.send()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res.send()</a:t>
            </a:r>
            <a:r>
              <a:rPr lang="en" sz="1200">
                <a:solidFill>
                  <a:schemeClr val="dk1"/>
                </a:solidFill>
              </a:rPr>
              <a:t> is used to send a response from the server back to the client.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When a client makes a request, the server processes it and uses </a:t>
            </a:r>
            <a:r>
              <a:rPr b="1" lang="en" sz="1200">
                <a:solidFill>
                  <a:schemeClr val="dk1"/>
                </a:solidFill>
              </a:rPr>
              <a:t>res.send()</a:t>
            </a:r>
            <a:r>
              <a:rPr lang="en" sz="1200">
                <a:solidFill>
                  <a:schemeClr val="dk1"/>
                </a:solidFill>
              </a:rPr>
              <a:t> to return data.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19" name="Google Shape;219;p28"/>
          <p:cNvSpPr txBox="1"/>
          <p:nvPr/>
        </p:nvSpPr>
        <p:spPr>
          <a:xfrm>
            <a:off x="403075" y="2882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Can res.send() Send? </a:t>
            </a:r>
            <a:endParaRPr b="1"/>
          </a:p>
        </p:txBody>
      </p:sp>
      <p:sp>
        <p:nvSpPr>
          <p:cNvPr id="220" name="Google Shape;220;p28"/>
          <p:cNvSpPr txBox="1"/>
          <p:nvPr/>
        </p:nvSpPr>
        <p:spPr>
          <a:xfrm>
            <a:off x="499450" y="32830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Text Response </a:t>
            </a:r>
            <a:endParaRPr/>
          </a:p>
        </p:txBody>
      </p:sp>
      <p:pic>
        <p:nvPicPr>
          <p:cNvPr id="221" name="Google Shape;22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370625"/>
            <a:ext cx="3675057" cy="138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8"/>
          <p:cNvSpPr txBox="1"/>
          <p:nvPr/>
        </p:nvSpPr>
        <p:spPr>
          <a:xfrm>
            <a:off x="3653900" y="46632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23" name="Google Shape;223;p28"/>
          <p:cNvSpPr txBox="1"/>
          <p:nvPr/>
        </p:nvSpPr>
        <p:spPr>
          <a:xfrm>
            <a:off x="653900" y="3986875"/>
            <a:ext cx="3000000" cy="6354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Response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Welcome Students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650">
                <a:solidFill>
                  <a:srgbClr val="073763"/>
                </a:solidFill>
              </a:rPr>
              <a:t>Response Object (res)</a:t>
            </a:r>
            <a:r>
              <a:rPr b="1" lang="en" sz="265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65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" name="Google Shape;229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1" name="Google Shape;231;p29"/>
          <p:cNvSpPr txBox="1"/>
          <p:nvPr/>
        </p:nvSpPr>
        <p:spPr>
          <a:xfrm>
            <a:off x="420600" y="1011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Can res.send() Send? </a:t>
            </a:r>
            <a:endParaRPr b="1"/>
          </a:p>
        </p:txBody>
      </p:sp>
      <p:sp>
        <p:nvSpPr>
          <p:cNvPr id="232" name="Google Shape;232;p29"/>
          <p:cNvSpPr txBox="1"/>
          <p:nvPr/>
        </p:nvSpPr>
        <p:spPr>
          <a:xfrm>
            <a:off x="516975" y="14117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HTML Response </a:t>
            </a:r>
            <a:endParaRPr/>
          </a:p>
        </p:txBody>
      </p:sp>
      <p:pic>
        <p:nvPicPr>
          <p:cNvPr id="233" name="Google Shape;23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4950" y="1473125"/>
            <a:ext cx="4361199" cy="122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9"/>
          <p:cNvSpPr txBox="1"/>
          <p:nvPr/>
        </p:nvSpPr>
        <p:spPr>
          <a:xfrm>
            <a:off x="578325" y="2059675"/>
            <a:ext cx="3000000" cy="6354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Browser Output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&lt;h1&gt;Welcome to MERN Course&lt;/h1&gt;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516975" y="3119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Object Response </a:t>
            </a:r>
            <a:endParaRPr/>
          </a:p>
        </p:txBody>
      </p:sp>
      <p:pic>
        <p:nvPicPr>
          <p:cNvPr id="236" name="Google Shape;23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1425" y="3554650"/>
            <a:ext cx="4361200" cy="122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9"/>
          <p:cNvSpPr txBox="1"/>
          <p:nvPr/>
        </p:nvSpPr>
        <p:spPr>
          <a:xfrm>
            <a:off x="639650" y="3645125"/>
            <a:ext cx="3000000" cy="11433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Response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{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"name":"Pratik",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"course":"MERN"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}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650">
                <a:solidFill>
                  <a:srgbClr val="073763"/>
                </a:solidFill>
              </a:rPr>
              <a:t>Response Object (res)</a:t>
            </a:r>
            <a:r>
              <a:rPr b="1" lang="en" sz="265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65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3" name="Google Shape;243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30"/>
          <p:cNvSpPr txBox="1"/>
          <p:nvPr/>
        </p:nvSpPr>
        <p:spPr>
          <a:xfrm>
            <a:off x="438125" y="1077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res.json() </a:t>
            </a:r>
            <a:endParaRPr b="1"/>
          </a:p>
        </p:txBody>
      </p:sp>
      <p:sp>
        <p:nvSpPr>
          <p:cNvPr id="246" name="Google Shape;246;p30"/>
          <p:cNvSpPr txBox="1"/>
          <p:nvPr/>
        </p:nvSpPr>
        <p:spPr>
          <a:xfrm>
            <a:off x="438125" y="1477825"/>
            <a:ext cx="261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Used to send JSON data.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Industry standard API response format.</a:t>
            </a:r>
            <a:endParaRPr sz="1200"/>
          </a:p>
        </p:txBody>
      </p:sp>
      <p:pic>
        <p:nvPicPr>
          <p:cNvPr id="247" name="Google Shape;24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8700" y="1043800"/>
            <a:ext cx="3384975" cy="180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0"/>
          <p:cNvSpPr txBox="1"/>
          <p:nvPr/>
        </p:nvSpPr>
        <p:spPr>
          <a:xfrm>
            <a:off x="4784986" y="3237300"/>
            <a:ext cx="2612400" cy="1578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Response: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"name":"Rahul",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"course":"MERN"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}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49" name="Google Shape;249;p30"/>
          <p:cNvSpPr txBox="1"/>
          <p:nvPr/>
        </p:nvSpPr>
        <p:spPr>
          <a:xfrm>
            <a:off x="625575" y="2633100"/>
            <a:ext cx="3000000" cy="218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Why Use JSON?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JSON is: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Lightweight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Easy to Read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Easy to Parse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Industry Standard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Almost every API uses JSON.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650">
                <a:solidFill>
                  <a:srgbClr val="073763"/>
                </a:solidFill>
              </a:rPr>
              <a:t>Response Object (res)</a:t>
            </a:r>
            <a:r>
              <a:rPr b="1" lang="en" sz="265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65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5" name="Google Shape;255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1"/>
          <p:cNvSpPr txBox="1"/>
          <p:nvPr/>
        </p:nvSpPr>
        <p:spPr>
          <a:xfrm>
            <a:off x="411825" y="1060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res.status() </a:t>
            </a:r>
            <a:endParaRPr b="1"/>
          </a:p>
        </p:txBody>
      </p:sp>
      <p:sp>
        <p:nvSpPr>
          <p:cNvPr id="258" name="Google Shape;258;p31"/>
          <p:cNvSpPr txBox="1"/>
          <p:nvPr/>
        </p:nvSpPr>
        <p:spPr>
          <a:xfrm>
            <a:off x="4311025" y="1886475"/>
            <a:ext cx="4223100" cy="369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Examples </a:t>
            </a:r>
            <a:r>
              <a:rPr lang="en" sz="1200">
                <a:solidFill>
                  <a:schemeClr val="dk1"/>
                </a:solidFill>
              </a:rPr>
              <a:t>: </a:t>
            </a:r>
            <a:r>
              <a:rPr lang="en" sz="1200">
                <a:solidFill>
                  <a:schemeClr val="dk1"/>
                </a:solidFill>
              </a:rPr>
              <a:t>Used to send HTTP Status Codes.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59" name="Google Shape;25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1050" y="2255775"/>
            <a:ext cx="4223050" cy="231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1"/>
          <p:cNvSpPr txBox="1"/>
          <p:nvPr/>
        </p:nvSpPr>
        <p:spPr>
          <a:xfrm>
            <a:off x="411825" y="1644750"/>
            <a:ext cx="3453300" cy="23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Status codes are used to inform the client about the result of a request, whether it was successful, failed, or encountered an error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successful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failed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unauthorized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not found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650">
                <a:solidFill>
                  <a:srgbClr val="073763"/>
                </a:solidFill>
              </a:rPr>
              <a:t>Response Object (res)</a:t>
            </a:r>
            <a:r>
              <a:rPr b="1" lang="en" sz="265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65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6" name="Google Shape;266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32"/>
          <p:cNvSpPr txBox="1"/>
          <p:nvPr/>
        </p:nvSpPr>
        <p:spPr>
          <a:xfrm>
            <a:off x="411825" y="1060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res.status() </a:t>
            </a:r>
            <a:endParaRPr b="1"/>
          </a:p>
        </p:txBody>
      </p:sp>
      <p:graphicFrame>
        <p:nvGraphicFramePr>
          <p:cNvPr id="269" name="Google Shape;269;p32"/>
          <p:cNvGraphicFramePr/>
          <p:nvPr/>
        </p:nvGraphicFramePr>
        <p:xfrm>
          <a:off x="502950" y="161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{58BAC071-AB8F-4406-A833-BBEC27D94190}</a:tableStyleId>
              </a:tblPr>
              <a:tblGrid>
                <a:gridCol w="1195325"/>
                <a:gridCol w="42466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Code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Meaning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200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Success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201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Created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400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Request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401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Unauthorized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403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Forbidden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404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 Found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500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Internal Server Error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5" name="Google Shape;275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3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the primary purpose of HTTP Status Codes?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p33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To create routes in </a:t>
            </a:r>
            <a:r>
              <a:rPr lang="en" sz="11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Express.js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To send data to the database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To inform the client about the result of a request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To install Express.js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8" name="Google Shape;278;p3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33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C. To inform the client about the result of a request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81" name="Google Shape;281;p33"/>
          <p:cNvGrpSpPr/>
          <p:nvPr/>
        </p:nvGrpSpPr>
        <p:grpSpPr>
          <a:xfrm>
            <a:off x="310900" y="3959263"/>
            <a:ext cx="6005825" cy="1245913"/>
            <a:chOff x="310900" y="3959263"/>
            <a:chExt cx="6005825" cy="1245913"/>
          </a:xfrm>
        </p:grpSpPr>
        <p:sp>
          <p:nvSpPr>
            <p:cNvPr id="282" name="Google Shape;282;p33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83" name="Google Shape;283;p33"/>
            <p:cNvSpPr txBox="1"/>
            <p:nvPr/>
          </p:nvSpPr>
          <p:spPr>
            <a:xfrm>
              <a:off x="1607925" y="3959275"/>
              <a:ext cx="4708800" cy="12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Status codes help the frontend understand whether the request was Successful, Failed, Unauthorized, not found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9" name="Google Shape;289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4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Which Request Object property is used to receive data sent from the frontend in a     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		      POST request?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1" name="Google Shape;291;p34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A. req.params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B. req.query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C. req.body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D. req.headers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92" name="Google Shape;292;p3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34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C. req.body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95" name="Google Shape;295;p34"/>
          <p:cNvGrpSpPr/>
          <p:nvPr/>
        </p:nvGrpSpPr>
        <p:grpSpPr>
          <a:xfrm>
            <a:off x="310900" y="3959263"/>
            <a:ext cx="6005825" cy="400200"/>
            <a:chOff x="310900" y="3959263"/>
            <a:chExt cx="6005825" cy="400200"/>
          </a:xfrm>
        </p:grpSpPr>
        <p:sp>
          <p:nvSpPr>
            <p:cNvPr id="296" name="Google Shape;296;p34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97" name="Google Shape;297;p34"/>
            <p:cNvSpPr txBox="1"/>
            <p:nvPr/>
          </p:nvSpPr>
          <p:spPr>
            <a:xfrm>
              <a:off x="1607925" y="3959275"/>
              <a:ext cx="4708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req.body</a:t>
              </a:r>
              <a:r>
                <a:rPr lang="en" sz="1100">
                  <a:solidFill>
                    <a:schemeClr val="dk1"/>
                  </a:solidFill>
                </a:rPr>
                <a:t> contains data sent by the client inside the request body. 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5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3" name="Google Shape;303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5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100">
                <a:solidFill>
                  <a:schemeClr val="dk1"/>
                </a:solidFill>
              </a:rPr>
              <a:t>What is the difference between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res.send()</a:t>
            </a:r>
            <a:r>
              <a:rPr b="1"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res.json()</a:t>
            </a:r>
            <a:r>
              <a:rPr b="1" lang="en" sz="1100">
                <a:solidFill>
                  <a:schemeClr val="dk1"/>
                </a:solidFill>
              </a:rPr>
              <a:t>?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5" name="Google Shape;305;p35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A. Both are exactly the same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B.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res.send()</a:t>
            </a:r>
            <a:r>
              <a:rPr lang="en" sz="1100">
                <a:solidFill>
                  <a:schemeClr val="dk1"/>
                </a:solidFill>
              </a:rPr>
              <a:t> starts the server and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res.json()</a:t>
            </a:r>
            <a:r>
              <a:rPr lang="en" sz="1100">
                <a:solidFill>
                  <a:schemeClr val="dk1"/>
                </a:solidFill>
              </a:rPr>
              <a:t> stops the server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C.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res.send()</a:t>
            </a:r>
            <a:r>
              <a:rPr lang="en" sz="1100">
                <a:solidFill>
                  <a:schemeClr val="dk1"/>
                </a:solidFill>
              </a:rPr>
              <a:t> can send text/data, while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res.json()</a:t>
            </a:r>
            <a:r>
              <a:rPr lang="en" sz="1100">
                <a:solidFill>
                  <a:schemeClr val="dk1"/>
                </a:solidFill>
              </a:rPr>
              <a:t> is specifically used to send JSON responses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D.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res.json()</a:t>
            </a:r>
            <a:r>
              <a:rPr lang="en" sz="1100">
                <a:solidFill>
                  <a:schemeClr val="dk1"/>
                </a:solidFill>
              </a:rPr>
              <a:t> receives data from frontend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6" name="Google Shape;306;p3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35"/>
          <p:cNvSpPr txBox="1"/>
          <p:nvPr/>
        </p:nvSpPr>
        <p:spPr>
          <a:xfrm>
            <a:off x="310900" y="30771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res.send() can send text/data, while res.json() is specifically used to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	       send JSON responses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9" name="Google Shape;309;p35"/>
          <p:cNvGrpSpPr/>
          <p:nvPr/>
        </p:nvGrpSpPr>
        <p:grpSpPr>
          <a:xfrm>
            <a:off x="310900" y="3708313"/>
            <a:ext cx="5596025" cy="1533913"/>
            <a:chOff x="310900" y="3959263"/>
            <a:chExt cx="5596025" cy="1533913"/>
          </a:xfrm>
        </p:grpSpPr>
        <p:sp>
          <p:nvSpPr>
            <p:cNvPr id="310" name="Google Shape;310;p35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11" name="Google Shape;311;p35"/>
            <p:cNvSpPr txBox="1"/>
            <p:nvPr/>
          </p:nvSpPr>
          <p:spPr>
            <a:xfrm>
              <a:off x="1607925" y="3959275"/>
              <a:ext cx="4299000" cy="15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res.send("Hello World");        ====&gt;&gt;&gt;          Hello World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</a:rPr>
                <a:t>res.json({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</a:rPr>
                <a:t>   name:"Rahul",	           ====&gt;&gt;&gt;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   course:"MERN"          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});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</p:txBody>
        </p:sp>
      </p:grpSp>
      <p:sp>
        <p:nvSpPr>
          <p:cNvPr id="312" name="Google Shape;312;p35"/>
          <p:cNvSpPr txBox="1"/>
          <p:nvPr/>
        </p:nvSpPr>
        <p:spPr>
          <a:xfrm>
            <a:off x="4354875" y="4103250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  "name":"Rahul",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  "course":"MERN"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}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6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8" name="Google Shape;318;p3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6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Express Js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https://developer.mozilla.org/en-US/docs/Learn_web_development/Extensions/Server-side/Express_Nodejs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express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https://www.w3schools.com/nodejs/nodejs_express.asp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Express Official-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covers core Express JS concepts in depth.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https://expressjs.com/en/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0" name="Google Shape;32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7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88813" y="38601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326" name="Google Shape;326;p37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7"/>
          <p:cNvSpPr txBox="1"/>
          <p:nvPr/>
        </p:nvSpPr>
        <p:spPr>
          <a:xfrm>
            <a:off x="4281700" y="2020825"/>
            <a:ext cx="47619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328" name="Google Shape;328;p37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329" name="Google Shape;329;p37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330" name="Google Shape;330;p37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1" name="Google Shape;331;p37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332" name="Google Shape;332;p37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7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37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5" name="Google Shape;335;p37" title="Programming-bro.png"/>
          <p:cNvPicPr preferRelativeResize="0"/>
          <p:nvPr/>
        </p:nvPicPr>
        <p:blipFill rotWithShape="1">
          <a:blip r:embed="rId7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