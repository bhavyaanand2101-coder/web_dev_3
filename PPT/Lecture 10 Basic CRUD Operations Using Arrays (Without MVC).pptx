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Roboto Slab"/>
      <p:regular r:id="rId31"/>
      <p:bold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224A88-025F-4FC9-BD5C-745E0C7FADDD}">
  <a:tblStyle styleId="{2C224A88-025F-4FC9-BD5C-745E0C7FAD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Slab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Poppins-regular.fntdata"/><Relationship Id="rId10" Type="http://schemas.openxmlformats.org/officeDocument/2006/relationships/slide" Target="slides/slide3.xml"/><Relationship Id="rId32" Type="http://schemas.openxmlformats.org/officeDocument/2006/relationships/font" Target="fonts/RobotoSlab-bold.fntdata"/><Relationship Id="rId13" Type="http://schemas.openxmlformats.org/officeDocument/2006/relationships/slide" Target="slides/slide6.xml"/><Relationship Id="rId35" Type="http://schemas.openxmlformats.org/officeDocument/2006/relationships/font" Target="fonts/Poppins-italic.fntdata"/><Relationship Id="rId12" Type="http://schemas.openxmlformats.org/officeDocument/2006/relationships/slide" Target="slides/slide5.xml"/><Relationship Id="rId34" Type="http://schemas.openxmlformats.org/officeDocument/2006/relationships/font" Target="fonts/Poppins-bold.fntdata"/><Relationship Id="rId15" Type="http://schemas.openxmlformats.org/officeDocument/2006/relationships/slide" Target="slides/slide8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7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0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9.xml"/><Relationship Id="rId38" Type="http://schemas.openxmlformats.org/officeDocument/2006/relationships/font" Target="fonts/RobotoMono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4d379a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4d379a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d379a27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4d379a27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4d37a594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4d37a594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d37a594c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4d37a594c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4d37a594c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4d37a594c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4d37a594c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4d37a594c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4d37a594c_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4d37a594c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4d37a594c_3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4d37a594c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4d37a594c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4d37a594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4d37a594c_5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4d37a594c_5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4d37a594c_5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4d37a594c_5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4d37a594c_5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4d37a594c_5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4d37a594c_5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4d37a594c_5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4d37a594c_5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4d37a594c_5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d37a594c_5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4d37a594c_5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4d37a594c_5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4d37a594c_5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4d37a594c_5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4d37a594c_5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4d37a594c_5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4d37a594c_5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4d37a594c_5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4d37a594c_5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4d37a594c_5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4d37a594c_5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d37a594c_5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4d37a594c_5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4d379a278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4d379a27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4d379a278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4d379a278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7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62" name="Google Shape;62;p17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7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64" name="Google Shape;64;p17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65" name="Google Shape;65;p17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66" name="Google Shape;66;p17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p17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8" name="Google Shape;68;p17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9" name="Google Shape;69;p17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1" name="Google Shape;71;p17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72" name="Google Shape;72;p17"/>
            <p:cNvSpPr txBox="1"/>
            <p:nvPr/>
          </p:nvSpPr>
          <p:spPr>
            <a:xfrm>
              <a:off x="788865" y="1515488"/>
              <a:ext cx="3197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1" lang="en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Lecture 10:</a:t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73" name="Google Shape;73;p17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17"/>
            <p:cNvSpPr txBox="1"/>
            <p:nvPr/>
          </p:nvSpPr>
          <p:spPr>
            <a:xfrm>
              <a:off x="790272" y="2145213"/>
              <a:ext cx="4593000" cy="79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CRUD Operations Using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Arrays (Without MVC)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75" name="Google Shape;75;p17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6" name="Google Shape;7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Char char="●"/>
            </a:pPr>
            <a:r>
              <a:rPr lang="en" sz="1300">
                <a:solidFill>
                  <a:srgbClr val="292929"/>
                </a:solidFill>
              </a:rPr>
              <a:t>What is CRUD?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Char char="●"/>
            </a:pPr>
            <a:r>
              <a:rPr lang="en" sz="1300">
                <a:solidFill>
                  <a:srgbClr val="292929"/>
                </a:solidFill>
              </a:rPr>
              <a:t>Read, Create, Update &amp; Delete Operations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Char char="●"/>
            </a:pPr>
            <a:r>
              <a:rPr lang="en" sz="1300">
                <a:solidFill>
                  <a:srgbClr val="292929"/>
                </a:solidFill>
              </a:rPr>
              <a:t>Testing APIs Using Postman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rgbClr val="273239"/>
                </a:solidFill>
              </a:rPr>
              <a:t>References.</a:t>
            </a:r>
            <a:endParaRPr sz="1300">
              <a:solidFill>
                <a:srgbClr val="273239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00"/>
              <a:buChar char="●"/>
            </a:pPr>
            <a:r>
              <a:rPr lang="en" sz="1300">
                <a:solidFill>
                  <a:srgbClr val="273239"/>
                </a:solidFill>
              </a:rPr>
              <a:t>The End.</a:t>
            </a:r>
            <a:endParaRPr sz="1300">
              <a:solidFill>
                <a:srgbClr val="273239"/>
              </a:solidFill>
            </a:endParaRPr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Every time you add a friend, edit your profile, or delete a post — what is actually happening behind the screen?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000" y="1112544"/>
            <a:ext cx="4337800" cy="38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Every time you add a friend, edit your profile, or delete a post — what is actually happening behind the screen?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385550" y="1705950"/>
            <a:ext cx="5249700" cy="2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answer is </a:t>
            </a:r>
            <a:r>
              <a:rPr b="1" lang="en" sz="1200">
                <a:solidFill>
                  <a:schemeClr val="dk1"/>
                </a:solidFill>
              </a:rPr>
              <a:t>CRUD Operations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Create</a:t>
            </a:r>
            <a:r>
              <a:rPr lang="en" sz="1200">
                <a:solidFill>
                  <a:schemeClr val="dk1"/>
                </a:solidFill>
              </a:rPr>
              <a:t> → When you add a new friend or create a new post.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Read</a:t>
            </a:r>
            <a:r>
              <a:rPr lang="en" sz="1200">
                <a:solidFill>
                  <a:schemeClr val="dk1"/>
                </a:solidFill>
              </a:rPr>
              <a:t> → When you view your profile, posts, or friends list.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Update</a:t>
            </a:r>
            <a:r>
              <a:rPr lang="en" sz="1200">
                <a:solidFill>
                  <a:schemeClr val="dk1"/>
                </a:solidFill>
              </a:rPr>
              <a:t> → When you edit your profile information or update a post.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Delete</a:t>
            </a:r>
            <a:r>
              <a:rPr lang="en" sz="1200">
                <a:solidFill>
                  <a:schemeClr val="dk1"/>
                </a:solidFill>
              </a:rPr>
              <a:t> → When you remove a friend or delete a post.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6117775" y="2072250"/>
            <a:ext cx="2416800" cy="1636200"/>
          </a:xfrm>
          <a:prstGeom prst="roundRect">
            <a:avLst>
              <a:gd fmla="val 3333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6263705" y="2175115"/>
            <a:ext cx="288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6263700" y="2484750"/>
            <a:ext cx="1876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CRUD operations form the foundation of almost every application you use daily.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|  </a:t>
            </a:r>
            <a:r>
              <a:rPr b="1" lang="en" sz="2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CRUD Operations</a:t>
            </a:r>
            <a:endParaRPr b="1" sz="2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3" name="Google Shape;113;p21"/>
          <p:cNvGraphicFramePr/>
          <p:nvPr/>
        </p:nvGraphicFramePr>
        <p:xfrm>
          <a:off x="634745" y="1353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{2C224A88-025F-4FC9-BD5C-745E0C7FADDD}</a:tableStyleId>
              </a:tblPr>
              <a:tblGrid>
                <a:gridCol w="1451175"/>
                <a:gridCol w="2610725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Meaning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8C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Create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Add new data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Read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View existing data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Update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Modify existing data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Delete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292929"/>
                          </a:solidFill>
                        </a:rPr>
                        <a:t>Remove existing data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21"/>
          <p:cNvSpPr/>
          <p:nvPr/>
        </p:nvSpPr>
        <p:spPr>
          <a:xfrm>
            <a:off x="608295" y="3082705"/>
            <a:ext cx="411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Examples where CRUD is used: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608297" y="3357025"/>
            <a:ext cx="2844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905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Student Management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Employee Management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E-commerce 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Social Media 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Banking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000">
                <a:solidFill>
                  <a:srgbClr val="173A63"/>
                </a:solidFill>
              </a:rPr>
              <a:t>Real-World Example: Attendance Register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445770" y="1297630"/>
            <a:ext cx="754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Consider a classroom attendance register: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445775" y="1777075"/>
            <a:ext cx="1885800" cy="1684500"/>
          </a:xfrm>
          <a:prstGeom prst="roundRect">
            <a:avLst>
              <a:gd fmla="val 363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22"/>
          <p:cNvSpPr/>
          <p:nvPr/>
        </p:nvSpPr>
        <p:spPr>
          <a:xfrm>
            <a:off x="617220" y="1982815"/>
            <a:ext cx="1543200" cy="377100"/>
          </a:xfrm>
          <a:prstGeom prst="roundRect">
            <a:avLst>
              <a:gd fmla="val 50909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p22"/>
          <p:cNvSpPr/>
          <p:nvPr/>
        </p:nvSpPr>
        <p:spPr>
          <a:xfrm>
            <a:off x="617220" y="1982815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582930" y="2531455"/>
            <a:ext cx="16116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Adding a new student's name: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Pratik, Rahul, Aman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2503175" y="1777075"/>
            <a:ext cx="1885800" cy="1684500"/>
          </a:xfrm>
          <a:prstGeom prst="roundRect">
            <a:avLst>
              <a:gd fmla="val 363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9" name="Google Shape;129;p22"/>
          <p:cNvSpPr/>
          <p:nvPr/>
        </p:nvSpPr>
        <p:spPr>
          <a:xfrm>
            <a:off x="2674620" y="1982815"/>
            <a:ext cx="1543200" cy="377100"/>
          </a:xfrm>
          <a:prstGeom prst="roundRect">
            <a:avLst>
              <a:gd fmla="val 50909" name="adj"/>
            </a:avLst>
          </a:prstGeom>
          <a:solidFill>
            <a:srgbClr val="1B7A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0" name="Google Shape;130;p22"/>
          <p:cNvSpPr/>
          <p:nvPr/>
        </p:nvSpPr>
        <p:spPr>
          <a:xfrm>
            <a:off x="2674620" y="1982815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2640330" y="2531455"/>
            <a:ext cx="16116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Viewing all student names in the register.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4560575" y="1777075"/>
            <a:ext cx="1885800" cy="1684500"/>
          </a:xfrm>
          <a:prstGeom prst="roundRect">
            <a:avLst>
              <a:gd fmla="val 363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22"/>
          <p:cNvSpPr/>
          <p:nvPr/>
        </p:nvSpPr>
        <p:spPr>
          <a:xfrm>
            <a:off x="4732020" y="1982815"/>
            <a:ext cx="1543200" cy="377100"/>
          </a:xfrm>
          <a:prstGeom prst="roundRect">
            <a:avLst>
              <a:gd fmla="val 50909" name="adj"/>
            </a:avLst>
          </a:prstGeom>
          <a:solidFill>
            <a:srgbClr val="C08A1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4" name="Google Shape;134;p22"/>
          <p:cNvSpPr/>
          <p:nvPr/>
        </p:nvSpPr>
        <p:spPr>
          <a:xfrm>
            <a:off x="4732020" y="1982815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4697730" y="2531455"/>
            <a:ext cx="16116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Changing: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"Rahul"  →  "Rahul Sharma"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6617975" y="1777075"/>
            <a:ext cx="1885800" cy="1684500"/>
          </a:xfrm>
          <a:prstGeom prst="roundRect">
            <a:avLst>
              <a:gd fmla="val 363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22"/>
          <p:cNvSpPr/>
          <p:nvPr/>
        </p:nvSpPr>
        <p:spPr>
          <a:xfrm>
            <a:off x="6789420" y="1982815"/>
            <a:ext cx="1543200" cy="377100"/>
          </a:xfrm>
          <a:prstGeom prst="roundRect">
            <a:avLst>
              <a:gd fmla="val 50909" name="adj"/>
            </a:avLst>
          </a:prstGeom>
          <a:solidFill>
            <a:srgbClr val="C1272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22"/>
          <p:cNvSpPr/>
          <p:nvPr/>
        </p:nvSpPr>
        <p:spPr>
          <a:xfrm>
            <a:off x="6789420" y="1982815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6755030" y="2531455"/>
            <a:ext cx="16116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Removing a student from the register.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000">
                <a:solidFill>
                  <a:srgbClr val="173A63"/>
                </a:solidFill>
              </a:rPr>
              <a:t>Creating a Simple Student Management with array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445770" y="7543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Step 1 — Install Express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445774" y="1063000"/>
            <a:ext cx="2876100" cy="925800"/>
          </a:xfrm>
          <a:prstGeom prst="roundRect">
            <a:avLst>
              <a:gd fmla="val 4444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/>
          <p:nvPr/>
        </p:nvSpPr>
        <p:spPr>
          <a:xfrm>
            <a:off x="569214" y="115900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692658" y="115900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816102" y="115900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617220" y="1337310"/>
            <a:ext cx="349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npm init -y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npm install express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445773" y="2160275"/>
            <a:ext cx="28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Step 2 — Create index.js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445770" y="2503170"/>
            <a:ext cx="342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Project Structure: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445775" y="2743200"/>
            <a:ext cx="2876100" cy="1377000"/>
          </a:xfrm>
          <a:prstGeom prst="roundRect">
            <a:avLst>
              <a:gd fmla="val 2069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569214" y="283921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692658" y="283921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816102" y="283921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617220" y="3017520"/>
            <a:ext cx="34977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student-crud/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├── node_modules/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├── package.json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└── index.js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4549200" y="1029350"/>
            <a:ext cx="3543300" cy="1164600"/>
          </a:xfrm>
          <a:prstGeom prst="roundRect">
            <a:avLst>
              <a:gd fmla="val 2353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4663440" y="116586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npm install express — what happens?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4663449" y="1405900"/>
            <a:ext cx="32850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This command downloads the Express.js framework and adds it to your node_modules folder, so you can import and use it inside index.js.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4572001" y="2787075"/>
            <a:ext cx="3497700" cy="1200300"/>
          </a:xfrm>
          <a:prstGeom prst="roundRect">
            <a:avLst>
              <a:gd fmla="val 4571" name="adj"/>
            </a:avLst>
          </a:prstGeom>
          <a:solidFill>
            <a:srgbClr val="E8F0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4" name="Google Shape;164;p23"/>
          <p:cNvSpPr/>
          <p:nvPr/>
        </p:nvSpPr>
        <p:spPr>
          <a:xfrm>
            <a:off x="4663440" y="2881165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Tip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4663450" y="3129975"/>
            <a:ext cx="32499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Run these commands inside your project folder in the terminal, one line at a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000">
                <a:solidFill>
                  <a:srgbClr val="173A63"/>
                </a:solidFill>
              </a:rPr>
              <a:t>Creating the Express Server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1" name="Google Shape;171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445774" y="754375"/>
            <a:ext cx="3550800" cy="1552200"/>
          </a:xfrm>
          <a:prstGeom prst="roundRect">
            <a:avLst>
              <a:gd fmla="val 272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569214" y="85039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692658" y="85039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816102" y="85039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617220" y="1028700"/>
            <a:ext cx="37719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express 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"express"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 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.listen(</a:t>
            </a:r>
            <a:r>
              <a:rPr b="0" i="0" lang="en" sz="10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3000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() =&gt;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console.log("Server Running");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4732023" y="754375"/>
            <a:ext cx="2620500" cy="1508700"/>
          </a:xfrm>
          <a:prstGeom prst="roundRect">
            <a:avLst>
              <a:gd fmla="val 363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4869180" y="857250"/>
            <a:ext cx="363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4869180" y="1097280"/>
            <a:ext cx="36348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3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Server Running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45770" y="26098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Understanding Student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445770" y="288416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Instead of a database, we will use an array to store student names.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445774" y="3192774"/>
            <a:ext cx="3550800" cy="1268700"/>
          </a:xfrm>
          <a:prstGeom prst="roundRect">
            <a:avLst>
              <a:gd fmla="val 25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569214" y="328878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692658" y="328878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816102" y="328878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617220" y="3467090"/>
            <a:ext cx="37719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let </a:t>
            </a: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students 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"Pratik",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"Rahul",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  "Aman"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4732075" y="3004225"/>
            <a:ext cx="2620500" cy="1457400"/>
          </a:xfrm>
          <a:prstGeom prst="roundRect">
            <a:avLst>
              <a:gd fmla="val 3333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4869180" y="3120390"/>
            <a:ext cx="363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Current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4869180" y="3360420"/>
            <a:ext cx="3634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["Pratik", "Rahul", "Aman"]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000">
                <a:solidFill>
                  <a:srgbClr val="173A63"/>
                </a:solidFill>
              </a:rPr>
              <a:t>Read Operation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445770" y="75438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" sz="11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Display all students.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445774" y="1097275"/>
            <a:ext cx="3331800" cy="1165800"/>
          </a:xfrm>
          <a:prstGeom prst="roundRect">
            <a:avLst>
              <a:gd fmla="val 3529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5"/>
          <p:cNvSpPr/>
          <p:nvPr/>
        </p:nvSpPr>
        <p:spPr>
          <a:xfrm>
            <a:off x="569214" y="119329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692658" y="119329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816102" y="119329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617220" y="1371600"/>
            <a:ext cx="37719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.get(</a:t>
            </a:r>
            <a:r>
              <a:rPr b="0" i="0" lang="en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"/students"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(req, res) =&gt;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    res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.send(students);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5372048" y="1097275"/>
            <a:ext cx="2130000" cy="1165800"/>
          </a:xfrm>
          <a:prstGeom prst="roundRect">
            <a:avLst>
              <a:gd fmla="val 4706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5509205" y="1200150"/>
            <a:ext cx="363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5509205" y="1440180"/>
            <a:ext cx="363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http://localhost:3000/students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445770" y="283249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45774" y="3106800"/>
            <a:ext cx="3331800" cy="1302900"/>
          </a:xfrm>
          <a:prstGeom prst="roundRect">
            <a:avLst>
              <a:gd fmla="val 3158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569214" y="320282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692658" y="320282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816102" y="320282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617220" y="3381130"/>
            <a:ext cx="3497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"Pratik",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"Rahul",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"Aman"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5372045" y="243459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372045" y="2708910"/>
            <a:ext cx="2880300" cy="342900"/>
          </a:xfrm>
          <a:prstGeom prst="roundRect">
            <a:avLst>
              <a:gd fmla="val 16000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5372045" y="2708910"/>
            <a:ext cx="288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5372045" y="3134106"/>
            <a:ext cx="2880300" cy="342900"/>
          </a:xfrm>
          <a:prstGeom prst="roundRect">
            <a:avLst>
              <a:gd fmla="val 16000" name="adj"/>
            </a:avLst>
          </a:prstGeom>
          <a:solidFill>
            <a:srgbClr val="E3E3E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5372045" y="3134106"/>
            <a:ext cx="288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/students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372045" y="3559302"/>
            <a:ext cx="2880300" cy="342900"/>
          </a:xfrm>
          <a:prstGeom prst="roundRect">
            <a:avLst>
              <a:gd fmla="val 16000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5372045" y="3559302"/>
            <a:ext cx="288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372045" y="3984498"/>
            <a:ext cx="2880300" cy="342900"/>
          </a:xfrm>
          <a:prstGeom prst="roundRect">
            <a:avLst>
              <a:gd fmla="val 16000" name="adj"/>
            </a:avLst>
          </a:prstGeom>
          <a:solidFill>
            <a:srgbClr val="E3E3E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5372045" y="3984498"/>
            <a:ext cx="288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Students Array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372045" y="4409694"/>
            <a:ext cx="2880300" cy="342900"/>
          </a:xfrm>
          <a:prstGeom prst="roundRect">
            <a:avLst>
              <a:gd fmla="val 16000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5372045" y="4409694"/>
            <a:ext cx="288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3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Create Operation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/>
          <p:nvPr/>
        </p:nvSpPr>
        <p:spPr>
          <a:xfrm>
            <a:off x="445770" y="75438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Add a new student.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459365" y="1198765"/>
            <a:ext cx="4114800" cy="1302900"/>
          </a:xfrm>
          <a:prstGeom prst="roundRect">
            <a:avLst>
              <a:gd fmla="val 3158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630815" y="1392210"/>
            <a:ext cx="37719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.post(</a:t>
            </a:r>
            <a:r>
              <a:rPr b="0" i="0" lang="en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"/students"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(req, res) =&gt;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const </a:t>
            </a: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studentName 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req.body.name;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  students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.push(studentName);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res.send("Student Added Successfully");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25402" y="2734901"/>
            <a:ext cx="37719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375"/>
              <a:buFont typeface="Calibri"/>
              <a:buNone/>
            </a:pPr>
            <a:r>
              <a:rPr b="1" i="0" lang="en" sz="1375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Request Body:</a:t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525409" y="3112102"/>
            <a:ext cx="2592000" cy="1169400"/>
          </a:xfrm>
          <a:prstGeom prst="roundRect">
            <a:avLst>
              <a:gd fmla="val 5455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4300" lIns="94300" spcFirstLastPara="1" rIns="94300" wrap="square" tIns="9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235" name="Google Shape;235;p26"/>
          <p:cNvSpPr/>
          <p:nvPr/>
        </p:nvSpPr>
        <p:spPr>
          <a:xfrm>
            <a:off x="695137" y="3244106"/>
            <a:ext cx="113100" cy="1131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4300" lIns="94300" spcFirstLastPara="1" rIns="94300" wrap="square" tIns="9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864873" y="3244106"/>
            <a:ext cx="113100" cy="1131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4300" lIns="94300" spcFirstLastPara="1" rIns="94300" wrap="square" tIns="9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1034608" y="3244106"/>
            <a:ext cx="113100" cy="1131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4300" lIns="94300" spcFirstLastPara="1" rIns="94300" wrap="square" tIns="9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761146" y="3489279"/>
            <a:ext cx="2074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38"/>
              <a:buFont typeface="Consolas"/>
              <a:buNone/>
            </a:pPr>
            <a:r>
              <a:rPr b="0" i="0" lang="en" sz="1238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238"/>
              <a:buFont typeface="Consolas"/>
              <a:buNone/>
            </a:pPr>
            <a:r>
              <a:rPr b="0" i="0" lang="en" sz="1238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"name":"Rohit"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238"/>
              <a:buFont typeface="Consolas"/>
              <a:buNone/>
            </a:pPr>
            <a:r>
              <a:rPr b="0" i="0" lang="en" sz="1238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5696680" y="1198780"/>
            <a:ext cx="3120300" cy="1851600"/>
          </a:xfrm>
          <a:prstGeom prst="roundRect">
            <a:avLst>
              <a:gd fmla="val 2963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5833765" y="1301750"/>
            <a:ext cx="28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Understanding req.body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5833765" y="1644580"/>
            <a:ext cx="28461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3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When JSON data arrives from Postman, Express stores it inside req.body.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3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console.log(req.body);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3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→ { name: "Rohit"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6"/>
          <p:cNvCxnSpPr/>
          <p:nvPr/>
        </p:nvCxnSpPr>
        <p:spPr>
          <a:xfrm rot="10800000">
            <a:off x="2656075" y="1561675"/>
            <a:ext cx="3049200" cy="297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Create Operation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>
            <p:ph idx="12" type="sldNum"/>
          </p:nvPr>
        </p:nvSpPr>
        <p:spPr>
          <a:xfrm>
            <a:off x="2654533" y="279227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445770" y="877055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Add a new student.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367750" y="1478275"/>
            <a:ext cx="4139700" cy="3109200"/>
          </a:xfrm>
          <a:prstGeom prst="roundRect">
            <a:avLst>
              <a:gd fmla="val 6957" name="adj"/>
            </a:avLst>
          </a:prstGeom>
          <a:solidFill>
            <a:srgbClr val="E8F0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4542725" y="1594412"/>
            <a:ext cx="363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Middleware required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4542725" y="2027466"/>
            <a:ext cx="36348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Before receiving JSON data from Postman, Express must understand it: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app.use(express.json());</a:t>
            </a:r>
            <a:endParaRPr b="0" i="0" sz="1500" u="none" cap="none" strike="noStrike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t/>
            </a:r>
            <a:endParaRPr sz="150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When JSON data arrives from Postman, Express stores it inside req.body.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console.log(req.body);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→ { name: "Rohit" }</a:t>
            </a:r>
            <a:endParaRPr sz="150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445780" y="1478285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Updated Array: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445780" y="1930805"/>
            <a:ext cx="2880300" cy="1851600"/>
          </a:xfrm>
          <a:prstGeom prst="roundRect">
            <a:avLst>
              <a:gd fmla="val 2222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617230" y="2129950"/>
            <a:ext cx="25374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3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3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"Pratik",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3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"Rahul",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3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"Aman",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3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"Rohit"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3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Update Operation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 txBox="1"/>
          <p:nvPr>
            <p:ph idx="12" type="sldNum"/>
          </p:nvPr>
        </p:nvSpPr>
        <p:spPr>
          <a:xfrm>
            <a:off x="8552948" y="4591450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480820" y="785955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" sz="13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Update an existing student's name.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445775" y="1241202"/>
            <a:ext cx="4126200" cy="1944300"/>
          </a:xfrm>
          <a:prstGeom prst="roundRect">
            <a:avLst>
              <a:gd fmla="val 2609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617220" y="1515510"/>
            <a:ext cx="3771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2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.put(</a:t>
            </a: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"/students/:index"</a:t>
            </a: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(req, res) =&gt;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2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const </a:t>
            </a:r>
            <a:r>
              <a:rPr b="0" i="0" lang="en" sz="12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index </a:t>
            </a: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req.params.index;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2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const </a:t>
            </a:r>
            <a:r>
              <a:rPr b="0" i="0" lang="en" sz="12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newName </a:t>
            </a: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req.body.name;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students[index] = newName;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res.send("Student Updated Successfully");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480825" y="3521550"/>
            <a:ext cx="3130200" cy="1062900"/>
          </a:xfrm>
          <a:prstGeom prst="roundRect">
            <a:avLst>
              <a:gd fmla="val 7619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589738" y="3652195"/>
            <a:ext cx="2886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270"/>
              <a:buFont typeface="Calibri"/>
              <a:buNone/>
            </a:pPr>
            <a:r>
              <a:rPr b="1" i="0" lang="en" sz="127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URL &amp; Body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589738" y="3957033"/>
            <a:ext cx="288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43"/>
              <a:buFont typeface="Calibri"/>
              <a:buNone/>
            </a:pPr>
            <a:r>
              <a:rPr b="0" i="0" lang="en" sz="1343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PUT  http://localhost:3000/students/1</a:t>
            </a:r>
            <a:endParaRPr b="0" i="0" sz="13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43"/>
              <a:buFont typeface="Calibri"/>
              <a:buNone/>
            </a:pPr>
            <a:r>
              <a:rPr b="0" i="0" lang="en" sz="1343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Body: { "name":"Rahul Sharma" }</a:t>
            </a:r>
            <a:endParaRPr b="0" i="0" sz="13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5245124" y="1234788"/>
            <a:ext cx="3488700" cy="1508700"/>
          </a:xfrm>
          <a:prstGeom prst="roundRect">
            <a:avLst>
              <a:gd fmla="val 3636" name="adj"/>
            </a:avLst>
          </a:prstGeom>
          <a:solidFill>
            <a:srgbClr val="E8F0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5382230" y="1814058"/>
            <a:ext cx="38406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Parameters are values passed inside the URL.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Example: /students/1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req.params.index  →  "1"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5382230" y="1378628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Understanding req.params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4916050" y="3185500"/>
            <a:ext cx="1902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Before Update: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6953913" y="3185500"/>
            <a:ext cx="1902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After Update: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4916055" y="3425524"/>
            <a:ext cx="1902300" cy="1459500"/>
          </a:xfrm>
          <a:prstGeom prst="roundRect">
            <a:avLst>
              <a:gd fmla="val 3243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5038322" y="3521541"/>
            <a:ext cx="813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5160594" y="3521541"/>
            <a:ext cx="813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5282865" y="3521541"/>
            <a:ext cx="813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5085872" y="3699848"/>
            <a:ext cx="15624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"Pratik",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"Rahul",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"Aman"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6953918" y="3425524"/>
            <a:ext cx="1807500" cy="1396200"/>
          </a:xfrm>
          <a:prstGeom prst="roundRect">
            <a:avLst>
              <a:gd fmla="val 3243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7076185" y="3521541"/>
            <a:ext cx="813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7198457" y="3521541"/>
            <a:ext cx="813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7320729" y="3521541"/>
            <a:ext cx="813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"/>
          <p:cNvSpPr/>
          <p:nvPr/>
        </p:nvSpPr>
        <p:spPr>
          <a:xfrm>
            <a:off x="7123735" y="3699848"/>
            <a:ext cx="14946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"Pratik",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"Rahul Sharma",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"Aman"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Delete Operation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2" name="Google Shape;292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>
            <p:ph idx="12" type="sldNum"/>
          </p:nvPr>
        </p:nvSpPr>
        <p:spPr>
          <a:xfrm>
            <a:off x="8552948" y="4591450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445770" y="75438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" sz="11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Remove a student from the array.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445770" y="1062990"/>
            <a:ext cx="4114800" cy="1371600"/>
          </a:xfrm>
          <a:prstGeom prst="roundRect">
            <a:avLst>
              <a:gd fmla="val 300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569214" y="115900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692658" y="115900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816102" y="115900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617220" y="1337310"/>
            <a:ext cx="37719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.delete(</a:t>
            </a:r>
            <a:r>
              <a:rPr b="0" i="0" lang="en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"/students/:index"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(req, res) =&gt;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const </a:t>
            </a:r>
            <a:r>
              <a:rPr b="0" i="0" lang="en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index </a:t>
            </a: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req.params.index;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students.splice(index, 1);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res.send("Student Deleted Successfully");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5041695" y="1508040"/>
            <a:ext cx="3909000" cy="582900"/>
          </a:xfrm>
          <a:prstGeom prst="roundRect">
            <a:avLst>
              <a:gd fmla="val 9412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5178805" y="1182948"/>
            <a:ext cx="363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5254255" y="1680240"/>
            <a:ext cx="3634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DELETE  http://localhost:3000/students/1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4726270" y="3316190"/>
            <a:ext cx="192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Before Delete: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6783670" y="3316190"/>
            <a:ext cx="192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After Delete: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4726270" y="3556220"/>
            <a:ext cx="1920300" cy="1165800"/>
          </a:xfrm>
          <a:prstGeom prst="roundRect">
            <a:avLst>
              <a:gd fmla="val 3529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4849714" y="365223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4973158" y="365223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5096602" y="365223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4897720" y="3830540"/>
            <a:ext cx="15774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"Pratik",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"Rahul",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"Aman"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6783670" y="3556220"/>
            <a:ext cx="1851600" cy="1165800"/>
          </a:xfrm>
          <a:prstGeom prst="roundRect">
            <a:avLst>
              <a:gd fmla="val 3529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6907114" y="3652232"/>
            <a:ext cx="82200" cy="82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7030558" y="3652232"/>
            <a:ext cx="82200" cy="82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9"/>
          <p:cNvSpPr/>
          <p:nvPr/>
        </p:nvSpPr>
        <p:spPr>
          <a:xfrm>
            <a:off x="7154002" y="3652232"/>
            <a:ext cx="82200" cy="82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6955120" y="3830540"/>
            <a:ext cx="15087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"Pratik",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"Aman"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440025" y="2973300"/>
            <a:ext cx="3699900" cy="1714500"/>
          </a:xfrm>
          <a:prstGeom prst="roundRect">
            <a:avLst>
              <a:gd fmla="val 3200" name="adj"/>
            </a:avLst>
          </a:prstGeom>
          <a:solidFill>
            <a:srgbClr val="E8F0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9"/>
          <p:cNvSpPr/>
          <p:nvPr/>
        </p:nvSpPr>
        <p:spPr>
          <a:xfrm>
            <a:off x="577130" y="3044625"/>
            <a:ext cx="384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Understanding splice()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77180" y="3316205"/>
            <a:ext cx="38406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Syntax:  array.splice(startIndex, deleteCount);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Example:  students.splice(1, 1);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Meaning: start deleting from index 1, delete 1 element.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Complete CRUD Program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3" name="Google Shape;323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0"/>
          <p:cNvSpPr txBox="1"/>
          <p:nvPr>
            <p:ph idx="12" type="sldNum"/>
          </p:nvPr>
        </p:nvSpPr>
        <p:spPr>
          <a:xfrm>
            <a:off x="8552948" y="4591450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45770" y="788670"/>
            <a:ext cx="8229600" cy="4046100"/>
          </a:xfrm>
          <a:prstGeom prst="roundRect">
            <a:avLst>
              <a:gd fmla="val 101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617220" y="1062990"/>
            <a:ext cx="7886700" cy="3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express 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("express");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 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.use(express.json());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let </a:t>
            </a: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students </a:t>
            </a:r>
            <a:r>
              <a:rPr b="0" i="0" lang="en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= ["Pratik", "Rahul", "Aman"];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.get("/students", (req,res)=&gt;{ res.send(students); 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Create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.post("/students",(req,res)=&gt;{ students.push(req.body.name); res.send("Added"); 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.put("/students/:index",(req,res)=&gt;{ students[req.params.index]=req.body.name; res.send("Updated"); 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.delete("/students/:index",(req,res)=&gt;{ students.splice(req.params.index,1); res.send("Deleted"); 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i="0" lang="en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.listen(3000,()=&gt;{ console.log("Server Running"); 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Testing APIs Using Postman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2" name="Google Shape;332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 txBox="1"/>
          <p:nvPr>
            <p:ph idx="12" type="sldNum"/>
          </p:nvPr>
        </p:nvSpPr>
        <p:spPr>
          <a:xfrm>
            <a:off x="8552948" y="4591450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34" name="Google Shape;334;p31"/>
          <p:cNvGraphicFramePr/>
          <p:nvPr/>
        </p:nvGraphicFramePr>
        <p:xfrm>
          <a:off x="445770" y="8915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{2C224A88-025F-4FC9-BD5C-745E0C7FADDD}</a:tableStyleId>
              </a:tblPr>
              <a:tblGrid>
                <a:gridCol w="1508750"/>
                <a:gridCol w="1234425"/>
                <a:gridCol w="2743200"/>
                <a:gridCol w="27432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URL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Body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8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Read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GET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localhost:3000/students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Create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POST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localhost:3000/students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{ "name":"Rohit" }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Update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PUT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localhost:3000/students/1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{ "name":"Rahul Sharma" }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Delete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DELETE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localhost:3000/students/1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292929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p31"/>
          <p:cNvSpPr/>
          <p:nvPr/>
        </p:nvSpPr>
        <p:spPr>
          <a:xfrm>
            <a:off x="445763" y="3271624"/>
            <a:ext cx="8229600" cy="1165800"/>
          </a:xfrm>
          <a:prstGeom prst="roundRect">
            <a:avLst>
              <a:gd fmla="val 3404" name="adj"/>
            </a:avLst>
          </a:prstGeom>
          <a:solidFill>
            <a:srgbClr val="E8F0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582943" y="3330690"/>
            <a:ext cx="7955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i="0" lang="en" u="none" cap="none" strike="noStrike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Reminder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594318" y="3635945"/>
            <a:ext cx="79554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Set the request Body type to raw → JSON in Postman before sending POST or PUT requests, and always keep app.use(express.json()) in your server file — otherwise req.body will be undefined.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Request Flow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3" name="Google Shape;343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2"/>
          <p:cNvSpPr txBox="1"/>
          <p:nvPr>
            <p:ph idx="12" type="sldNum"/>
          </p:nvPr>
        </p:nvSpPr>
        <p:spPr>
          <a:xfrm>
            <a:off x="8552948" y="4591450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596825" y="1505975"/>
            <a:ext cx="1446600" cy="814800"/>
          </a:xfrm>
          <a:prstGeom prst="roundRect">
            <a:avLst>
              <a:gd fmla="val 9091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74075" lIns="74075" spcFirstLastPara="1" rIns="74075" wrap="square" tIns="7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596825" y="1505975"/>
            <a:ext cx="1446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alibri"/>
              <a:buNone/>
            </a:pPr>
            <a:r>
              <a:rPr b="1" i="0" lang="en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Request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32"/>
          <p:cNvCxnSpPr/>
          <p:nvPr/>
        </p:nvCxnSpPr>
        <p:spPr>
          <a:xfrm>
            <a:off x="2043430" y="1913437"/>
            <a:ext cx="235500" cy="0"/>
          </a:xfrm>
          <a:prstGeom prst="straightConnector1">
            <a:avLst/>
          </a:prstGeom>
          <a:noFill/>
          <a:ln cap="flat" cmpd="sng" w="343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32"/>
          <p:cNvSpPr/>
          <p:nvPr/>
        </p:nvSpPr>
        <p:spPr>
          <a:xfrm>
            <a:off x="2278924" y="1505975"/>
            <a:ext cx="1446600" cy="814800"/>
          </a:xfrm>
          <a:prstGeom prst="roundRect">
            <a:avLst>
              <a:gd fmla="val 9091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74075" lIns="74075" spcFirstLastPara="1" rIns="74075" wrap="square" tIns="7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2278924" y="1505975"/>
            <a:ext cx="1446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alibri"/>
              <a:buNone/>
            </a:pPr>
            <a:r>
              <a:rPr b="1" i="0" lang="en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32"/>
          <p:cNvCxnSpPr/>
          <p:nvPr/>
        </p:nvCxnSpPr>
        <p:spPr>
          <a:xfrm>
            <a:off x="3725529" y="1913437"/>
            <a:ext cx="235500" cy="0"/>
          </a:xfrm>
          <a:prstGeom prst="straightConnector1">
            <a:avLst/>
          </a:prstGeom>
          <a:noFill/>
          <a:ln cap="flat" cmpd="sng" w="343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32"/>
          <p:cNvSpPr/>
          <p:nvPr/>
        </p:nvSpPr>
        <p:spPr>
          <a:xfrm>
            <a:off x="3961022" y="1505975"/>
            <a:ext cx="1446600" cy="814800"/>
          </a:xfrm>
          <a:prstGeom prst="roundRect">
            <a:avLst>
              <a:gd fmla="val 9091" name="adj"/>
            </a:avLst>
          </a:prstGeom>
          <a:solidFill>
            <a:srgbClr val="C1272D"/>
          </a:solidFill>
          <a:ln>
            <a:noFill/>
          </a:ln>
        </p:spPr>
        <p:txBody>
          <a:bodyPr anchorCtr="0" anchor="ctr" bIns="74075" lIns="74075" spcFirstLastPara="1" rIns="74075" wrap="square" tIns="7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3961022" y="1505975"/>
            <a:ext cx="1446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alibri"/>
              <a:buNone/>
            </a:pPr>
            <a:r>
              <a:rPr b="1" i="0" lang="en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32"/>
          <p:cNvCxnSpPr/>
          <p:nvPr/>
        </p:nvCxnSpPr>
        <p:spPr>
          <a:xfrm>
            <a:off x="5407627" y="1913437"/>
            <a:ext cx="235500" cy="0"/>
          </a:xfrm>
          <a:prstGeom prst="straightConnector1">
            <a:avLst/>
          </a:prstGeom>
          <a:noFill/>
          <a:ln cap="flat" cmpd="sng" w="343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4" name="Google Shape;354;p32"/>
          <p:cNvSpPr/>
          <p:nvPr/>
        </p:nvSpPr>
        <p:spPr>
          <a:xfrm>
            <a:off x="5643121" y="1505975"/>
            <a:ext cx="1446600" cy="814800"/>
          </a:xfrm>
          <a:prstGeom prst="roundRect">
            <a:avLst>
              <a:gd fmla="val 9091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74075" lIns="74075" spcFirstLastPara="1" rIns="74075" wrap="square" tIns="7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5643121" y="1505975"/>
            <a:ext cx="1446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alibri"/>
              <a:buNone/>
            </a:pPr>
            <a:r>
              <a:rPr b="1" i="0" lang="en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 Operation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32"/>
          <p:cNvCxnSpPr/>
          <p:nvPr/>
        </p:nvCxnSpPr>
        <p:spPr>
          <a:xfrm>
            <a:off x="7089726" y="1913437"/>
            <a:ext cx="235500" cy="0"/>
          </a:xfrm>
          <a:prstGeom prst="straightConnector1">
            <a:avLst/>
          </a:prstGeom>
          <a:noFill/>
          <a:ln cap="flat" cmpd="sng" w="343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32"/>
          <p:cNvSpPr/>
          <p:nvPr/>
        </p:nvSpPr>
        <p:spPr>
          <a:xfrm>
            <a:off x="7325220" y="1505975"/>
            <a:ext cx="1446600" cy="814800"/>
          </a:xfrm>
          <a:prstGeom prst="roundRect">
            <a:avLst>
              <a:gd fmla="val 9091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74075" lIns="74075" spcFirstLastPara="1" rIns="74075" wrap="square" tIns="7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2"/>
          <p:cNvSpPr/>
          <p:nvPr/>
        </p:nvSpPr>
        <p:spPr>
          <a:xfrm>
            <a:off x="7325220" y="1505975"/>
            <a:ext cx="1446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alibri"/>
              <a:buNone/>
            </a:pPr>
            <a:r>
              <a:rPr b="1" i="0" lang="en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1650150" y="2874325"/>
            <a:ext cx="5843700" cy="1754100"/>
          </a:xfrm>
          <a:prstGeom prst="roundRect">
            <a:avLst>
              <a:gd fmla="val 4000" name="adj"/>
            </a:avLst>
          </a:prstGeom>
          <a:solidFill>
            <a:srgbClr val="E8F0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2"/>
          <p:cNvSpPr/>
          <p:nvPr/>
        </p:nvSpPr>
        <p:spPr>
          <a:xfrm>
            <a:off x="2130605" y="3082350"/>
            <a:ext cx="69267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Every CRUD request follows the same journey: </a:t>
            </a:r>
            <a:endParaRPr b="0" i="0" sz="1500" u="none" cap="none" strike="noStrike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he client sends a request to a specific route</a:t>
            </a: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500" u="none" cap="none" strike="noStrike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Express matches the route and works with the in-memory array</a:t>
            </a: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he requested operation (Create, Read, Update, or Delete) runs</a:t>
            </a: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lang="en" sz="15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" sz="1500" u="none" cap="none" strike="noStrike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inally, a response is sent back to the client.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Common Errors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6" name="Google Shape;366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3"/>
          <p:cNvSpPr txBox="1"/>
          <p:nvPr>
            <p:ph idx="12" type="sldNum"/>
          </p:nvPr>
        </p:nvSpPr>
        <p:spPr>
          <a:xfrm>
            <a:off x="8600698" y="4538875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68" name="Google Shape;368;p33"/>
          <p:cNvGraphicFramePr/>
          <p:nvPr/>
        </p:nvGraphicFramePr>
        <p:xfrm>
          <a:off x="457195" y="1088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{2C224A88-025F-4FC9-BD5C-745E0C7FADDD}</a:tableStyleId>
              </a:tblPr>
              <a:tblGrid>
                <a:gridCol w="2743200"/>
                <a:gridCol w="2743200"/>
                <a:gridCol w="2743200"/>
              </a:tblGrid>
              <a:tr h="4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Error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Reason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272D"/>
                    </a:solidFill>
                  </a:tcPr>
                </a:tc>
              </a:tr>
              <a:tr h="4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Cannot read property 'name'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Data not sent in request body.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Send JSON data properly.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req.body is undefined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JSON middleware missing.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app.use(express.json());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Student not updated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Incorrect index provided.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292929"/>
                          </a:solidFill>
                        </a:rPr>
                        <a:t>Check the URL parameter.</a:t>
                      </a:r>
                      <a:endParaRPr sz="12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/home/claude/assets/ohno_illustration.jpg" id="369" name="Google Shape;369;p33"/>
          <p:cNvPicPr preferRelativeResize="0"/>
          <p:nvPr/>
        </p:nvPicPr>
        <p:blipFill rotWithShape="1">
          <a:blip r:embed="rId4">
            <a:alphaModFix/>
          </a:blip>
          <a:srcRect b="-6720" l="0" r="0" t="6720"/>
          <a:stretch/>
        </p:blipFill>
        <p:spPr>
          <a:xfrm>
            <a:off x="3406132" y="3174590"/>
            <a:ext cx="2331720" cy="195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000">
                <a:solidFill>
                  <a:srgbClr val="173A63"/>
                </a:solidFill>
              </a:rPr>
              <a:t> </a:t>
            </a:r>
            <a:r>
              <a:rPr b="1" lang="en" sz="2000">
                <a:solidFill>
                  <a:srgbClr val="173A63"/>
                </a:solidFill>
              </a:rPr>
              <a:t>Practical Exercise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73A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5" name="Google Shape;375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00698" y="4538875"/>
            <a:ext cx="543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34"/>
          <p:cNvSpPr/>
          <p:nvPr/>
        </p:nvSpPr>
        <p:spPr>
          <a:xfrm>
            <a:off x="457195" y="86224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200"/>
              <a:buFont typeface="Calibri"/>
              <a:buNone/>
            </a:pPr>
            <a:r>
              <a:rPr b="1" i="0" lang="en" sz="1300" u="none" cap="none" strike="noStrike">
                <a:solidFill>
                  <a:srgbClr val="173A63"/>
                </a:solidFill>
              </a:rPr>
              <a:t>Create CRUD APIs for: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457200" y="1268125"/>
            <a:ext cx="2997900" cy="1281000"/>
          </a:xfrm>
          <a:prstGeom prst="roundRect">
            <a:avLst>
              <a:gd fmla="val 3158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593620" y="1474725"/>
            <a:ext cx="3497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00"/>
              <a:buFont typeface="Consolas"/>
              <a:buNone/>
            </a:pPr>
            <a:r>
              <a:rPr i="0" lang="en" sz="1100" u="none" cap="none" strike="noStrike">
                <a:solidFill>
                  <a:srgbClr val="569CD6"/>
                </a:solidFill>
              </a:rPr>
              <a:t>let </a:t>
            </a:r>
            <a:r>
              <a:rPr i="0" lang="en" sz="1100" u="none" cap="none" strike="noStrike">
                <a:solidFill>
                  <a:srgbClr val="9CDCFE"/>
                </a:solidFill>
              </a:rPr>
              <a:t>students </a:t>
            </a:r>
            <a:r>
              <a:rPr i="0" lang="en" sz="1100" u="none" cap="none" strike="noStrike">
                <a:solidFill>
                  <a:srgbClr val="D4D4D4"/>
                </a:solidFill>
              </a:rPr>
              <a:t>= [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100"/>
              <a:buFont typeface="Consolas"/>
              <a:buNone/>
            </a:pPr>
            <a:r>
              <a:rPr i="0" lang="en" sz="1100" u="none" cap="none" strike="noStrike">
                <a:solidFill>
                  <a:srgbClr val="CE9178"/>
                </a:solidFill>
              </a:rPr>
              <a:t>  "Aman",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100"/>
              <a:buFont typeface="Consolas"/>
              <a:buNone/>
            </a:pPr>
            <a:r>
              <a:rPr i="0" lang="en" sz="1100" u="none" cap="none" strike="noStrike">
                <a:solidFill>
                  <a:srgbClr val="CE9178"/>
                </a:solidFill>
              </a:rPr>
              <a:t>  "Rahul",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1100"/>
              <a:buFont typeface="Consolas"/>
              <a:buNone/>
            </a:pPr>
            <a:r>
              <a:rPr i="0" lang="en" sz="1100" u="none" cap="none" strike="noStrike">
                <a:solidFill>
                  <a:srgbClr val="CE9178"/>
                </a:solidFill>
              </a:rPr>
              <a:t>  "Rohit"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100"/>
              <a:buFont typeface="Consolas"/>
              <a:buNone/>
            </a:pPr>
            <a:r>
              <a:rPr i="0" lang="en" sz="1100" u="none" cap="none" strike="noStrike">
                <a:solidFill>
                  <a:srgbClr val="D4D4D4"/>
                </a:solidFill>
              </a:rPr>
              <a:t>];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5078700" y="1047038"/>
            <a:ext cx="2895900" cy="1498200"/>
          </a:xfrm>
          <a:prstGeom prst="roundRect">
            <a:avLst>
              <a:gd fmla="val 25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"/>
          <p:cNvSpPr/>
          <p:nvPr/>
        </p:nvSpPr>
        <p:spPr>
          <a:xfrm>
            <a:off x="5270190" y="1158838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3A63"/>
              </a:buClr>
              <a:buSzPts val="1000"/>
              <a:buFont typeface="Calibri"/>
              <a:buNone/>
            </a:pPr>
            <a:r>
              <a:rPr b="1" lang="en" sz="1600">
                <a:solidFill>
                  <a:srgbClr val="173A63"/>
                </a:solidFill>
              </a:rPr>
              <a:t>Requirements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5273999" y="1511936"/>
            <a:ext cx="34977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i="0" lang="en" sz="1100" u="none" cap="none" strike="noStrike">
                <a:solidFill>
                  <a:srgbClr val="292929"/>
                </a:solidFill>
              </a:rPr>
              <a:t>•  Create Student API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i="0" lang="en" sz="1100" u="none" cap="none" strike="noStrike">
                <a:solidFill>
                  <a:srgbClr val="292929"/>
                </a:solidFill>
              </a:rPr>
              <a:t>•  Read Students API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i="0" lang="en" sz="1100" u="none" cap="none" strike="noStrike">
                <a:solidFill>
                  <a:srgbClr val="292929"/>
                </a:solidFill>
              </a:rPr>
              <a:t>•  Update Student API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i="0" lang="en" sz="1100" u="none" cap="none" strike="noStrike">
                <a:solidFill>
                  <a:srgbClr val="292929"/>
                </a:solidFill>
              </a:rPr>
              <a:t>•  Delete Student API</a:t>
            </a:r>
            <a:endParaRPr i="0" sz="11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900"/>
              <a:buFont typeface="Calibri"/>
              <a:buNone/>
            </a:pPr>
            <a:r>
              <a:rPr i="0" lang="en" sz="1100" u="none" cap="none" strike="noStrike">
                <a:solidFill>
                  <a:srgbClr val="292929"/>
                </a:solidFill>
              </a:rPr>
              <a:t>Test all APIs using Postman.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489726" y="2767150"/>
            <a:ext cx="3420000" cy="911400"/>
          </a:xfrm>
          <a:prstGeom prst="roundRect">
            <a:avLst>
              <a:gd fmla="val 4255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616017" y="2868868"/>
            <a:ext cx="758700" cy="174600"/>
          </a:xfrm>
          <a:prstGeom prst="roundRect">
            <a:avLst>
              <a:gd fmla="val 48889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616025" y="2868875"/>
            <a:ext cx="75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5"/>
              <a:buFont typeface="Calibri"/>
              <a:buNone/>
            </a:pPr>
            <a:r>
              <a:rPr b="1" i="0" lang="en" sz="1165" u="none" cap="none" strike="noStrike">
                <a:solidFill>
                  <a:srgbClr val="FFFFFF"/>
                </a:solidFill>
              </a:rPr>
              <a:t>Task 1</a:t>
            </a:r>
            <a:endParaRPr i="0" sz="1165" u="none" cap="none" strike="noStrike">
              <a:solidFill>
                <a:schemeClr val="dk1"/>
              </a:solidFill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616025" y="3165613"/>
            <a:ext cx="34200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565"/>
              <a:buFont typeface="Consolas"/>
              <a:buNone/>
            </a:pPr>
            <a:r>
              <a:rPr i="0" lang="en" sz="1065" u="none" cap="none" strike="noStrike">
                <a:solidFill>
                  <a:srgbClr val="292929"/>
                </a:solidFill>
              </a:rPr>
              <a:t>Create CRUD APIs using:</a:t>
            </a:r>
            <a:endParaRPr i="0" sz="1065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565"/>
              <a:buFont typeface="Consolas"/>
              <a:buNone/>
            </a:pPr>
            <a:r>
              <a:rPr i="0" lang="en" sz="1065" u="none" cap="none" strike="noStrike">
                <a:solidFill>
                  <a:srgbClr val="292929"/>
                </a:solidFill>
              </a:rPr>
              <a:t>let students = ["Pratik", "Rahul", "Aman"];</a:t>
            </a:r>
            <a:endParaRPr i="0" sz="1065" u="none" cap="none" strike="noStrike">
              <a:solidFill>
                <a:schemeClr val="dk1"/>
              </a:solidFill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5124027" y="2791088"/>
            <a:ext cx="3420000" cy="911400"/>
          </a:xfrm>
          <a:prstGeom prst="roundRect">
            <a:avLst>
              <a:gd fmla="val 4255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8" name="Google Shape;388;p34"/>
          <p:cNvSpPr/>
          <p:nvPr/>
        </p:nvSpPr>
        <p:spPr>
          <a:xfrm>
            <a:off x="5270191" y="2876406"/>
            <a:ext cx="876900" cy="174600"/>
          </a:xfrm>
          <a:prstGeom prst="roundRect">
            <a:avLst>
              <a:gd fmla="val 48889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9" name="Google Shape;389;p34"/>
          <p:cNvSpPr/>
          <p:nvPr/>
        </p:nvSpPr>
        <p:spPr>
          <a:xfrm>
            <a:off x="5270191" y="2876406"/>
            <a:ext cx="8769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5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Task 2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5270191" y="3101335"/>
            <a:ext cx="31281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565"/>
              <a:buFont typeface="Consolas"/>
              <a:buNone/>
            </a:pPr>
            <a:r>
              <a:rPr i="0" lang="en" sz="1200" u="none" cap="none" strike="noStrike">
                <a:solidFill>
                  <a:srgbClr val="292929"/>
                </a:solidFill>
              </a:rPr>
              <a:t>Add at least 5 students using Postman.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489575" y="3811250"/>
            <a:ext cx="3420000" cy="911400"/>
          </a:xfrm>
          <a:prstGeom prst="roundRect">
            <a:avLst>
              <a:gd fmla="val 4255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616017" y="3896565"/>
            <a:ext cx="758700" cy="174600"/>
          </a:xfrm>
          <a:prstGeom prst="roundRect">
            <a:avLst>
              <a:gd fmla="val 48889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616025" y="3846763"/>
            <a:ext cx="85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5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Task 3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616017" y="4205019"/>
            <a:ext cx="27060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565"/>
              <a:buFont typeface="Consolas"/>
              <a:buNone/>
            </a:pPr>
            <a:r>
              <a:rPr i="0" lang="en" sz="1265" u="none" cap="none" strike="noStrike">
                <a:solidFill>
                  <a:srgbClr val="292929"/>
                </a:solidFill>
              </a:rPr>
              <a:t>Update any student name.</a:t>
            </a:r>
            <a:endParaRPr i="0" sz="1265" u="none" cap="none" strike="noStrike">
              <a:solidFill>
                <a:schemeClr val="dk1"/>
              </a:solidFill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5124027" y="3846775"/>
            <a:ext cx="3420000" cy="911400"/>
          </a:xfrm>
          <a:prstGeom prst="roundRect">
            <a:avLst>
              <a:gd fmla="val 4255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6" name="Google Shape;396;p34"/>
          <p:cNvSpPr/>
          <p:nvPr/>
        </p:nvSpPr>
        <p:spPr>
          <a:xfrm>
            <a:off x="5270209" y="3896577"/>
            <a:ext cx="758700" cy="174600"/>
          </a:xfrm>
          <a:prstGeom prst="roundRect">
            <a:avLst>
              <a:gd fmla="val 48889" name="adj"/>
            </a:avLst>
          </a:prstGeom>
          <a:solidFill>
            <a:srgbClr val="1B4F8C"/>
          </a:solidFill>
          <a:ln>
            <a:noFill/>
          </a:ln>
        </p:spPr>
        <p:txBody>
          <a:bodyPr anchorCtr="0" anchor="ctr" bIns="38775" lIns="38775" spcFirstLastPara="1" rIns="38775" wrap="square" tIns="3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7" name="Google Shape;397;p34"/>
          <p:cNvSpPr/>
          <p:nvPr/>
        </p:nvSpPr>
        <p:spPr>
          <a:xfrm>
            <a:off x="5270209" y="3896577"/>
            <a:ext cx="7587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5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</a:rPr>
              <a:t>Task 4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5270191" y="4157023"/>
            <a:ext cx="31281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565"/>
              <a:buFont typeface="Consolas"/>
              <a:buNone/>
            </a:pPr>
            <a:r>
              <a:rPr i="0" lang="en" sz="1200" u="none" cap="none" strike="noStrike">
                <a:solidFill>
                  <a:srgbClr val="292929"/>
                </a:solidFill>
              </a:rPr>
              <a:t>Delete any student from the array.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310900" y="1228825"/>
            <a:ext cx="816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92929"/>
                </a:solidFill>
              </a:rPr>
              <a:t>Which HTTP method is used to remove data from the students array?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349300" y="1571575"/>
            <a:ext cx="80847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</a:t>
            </a:r>
            <a:r>
              <a:rPr b="1" lang="en" sz="1200">
                <a:solidFill>
                  <a:srgbClr val="173A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2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A. 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B. POST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C. 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D. DELETE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7" name="Google Shape;407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rgbClr val="1B7A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100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D. DELETE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0" name="Google Shape;410;p35"/>
          <p:cNvGrpSpPr/>
          <p:nvPr/>
        </p:nvGrpSpPr>
        <p:grpSpPr>
          <a:xfrm>
            <a:off x="310900" y="3959263"/>
            <a:ext cx="6005825" cy="948013"/>
            <a:chOff x="310900" y="3959263"/>
            <a:chExt cx="6005825" cy="948013"/>
          </a:xfrm>
        </p:grpSpPr>
        <p:sp>
          <p:nvSpPr>
            <p:cNvPr id="411" name="Google Shape;411;p3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2" name="Google Shape;412;p35"/>
            <p:cNvSpPr txBox="1"/>
            <p:nvPr/>
          </p:nvSpPr>
          <p:spPr>
            <a:xfrm>
              <a:off x="1607925" y="3959275"/>
              <a:ext cx="47088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929"/>
                </a:buClr>
                <a:buSzPts val="900"/>
                <a:buFont typeface="Calibri"/>
                <a:buNone/>
              </a:pPr>
              <a:r>
                <a:rPr lang="en" sz="1200">
                  <a:solidFill>
                    <a:srgbClr val="292929"/>
                  </a:solidFill>
                  <a:latin typeface="Calibri"/>
                  <a:ea typeface="Calibri"/>
                  <a:cs typeface="Calibri"/>
                  <a:sym typeface="Calibri"/>
                </a:rPr>
                <a:t>The DELETE method, combined with students.splice(index, 1), removes an element from the array at the given index.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8" name="Google Shape;418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6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 :     </a:t>
            </a:r>
            <a:r>
              <a:rPr b="1" lang="en"/>
              <a:t> In the route app.put("/students/:index"), what does req.params.index return?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0" name="Google Shape;420;p36"/>
          <p:cNvSpPr txBox="1"/>
          <p:nvPr/>
        </p:nvSpPr>
        <p:spPr>
          <a:xfrm>
            <a:off x="310900" y="1748350"/>
            <a:ext cx="80847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A. The student's name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  B. The value passed in the URL in place of :index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  C. The full students array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  D. The HTTP method used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1" name="Google Shape;421;p3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36"/>
          <p:cNvSpPr txBox="1"/>
          <p:nvPr/>
        </p:nvSpPr>
        <p:spPr>
          <a:xfrm>
            <a:off x="310950" y="3313725"/>
            <a:ext cx="62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>
                <a:solidFill>
                  <a:schemeClr val="dk2"/>
                </a:solidFill>
              </a:rPr>
              <a:t>  </a:t>
            </a:r>
            <a:r>
              <a:rPr b="1"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B. The value passed in the URL in place of :index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4" name="Google Shape;424;p36"/>
          <p:cNvGrpSpPr/>
          <p:nvPr/>
        </p:nvGrpSpPr>
        <p:grpSpPr>
          <a:xfrm>
            <a:off x="310900" y="3959263"/>
            <a:ext cx="6005825" cy="1049713"/>
            <a:chOff x="310900" y="3959263"/>
            <a:chExt cx="6005825" cy="1049713"/>
          </a:xfrm>
        </p:grpSpPr>
        <p:sp>
          <p:nvSpPr>
            <p:cNvPr id="425" name="Google Shape;425;p3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26" name="Google Shape;426;p36"/>
            <p:cNvSpPr txBox="1"/>
            <p:nvPr/>
          </p:nvSpPr>
          <p:spPr>
            <a:xfrm>
              <a:off x="1607925" y="3959275"/>
              <a:ext cx="4708800" cy="10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929"/>
                </a:buClr>
                <a:buSzPts val="900"/>
                <a:buFont typeface="Calibri"/>
                <a:buNone/>
              </a:pPr>
              <a:r>
                <a:rPr lang="en">
                  <a:solidFill>
                    <a:srgbClr val="292929"/>
                  </a:solidFill>
                  <a:latin typeface="Calibri"/>
                  <a:ea typeface="Calibri"/>
                  <a:cs typeface="Calibri"/>
                  <a:sym typeface="Calibri"/>
                </a:rPr>
                <a:t>req.params holds values captured from the URL itself — for example, /students/1 sets req.params.index to "1".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2" name="Google Shape;432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7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What does the Express method app.use(express.json()) do?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310900" y="1748350"/>
            <a:ext cx="80847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	</a:t>
            </a: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A. Starts the server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B. Allows Express to read JSON data from the request body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C. Creates a new route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D. Deletes array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5" name="Google Shape;435;p3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37"/>
          <p:cNvSpPr txBox="1"/>
          <p:nvPr/>
        </p:nvSpPr>
        <p:spPr>
          <a:xfrm>
            <a:off x="310950" y="3313725"/>
            <a:ext cx="626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>
                <a:solidFill>
                  <a:schemeClr val="dk2"/>
                </a:solidFill>
              </a:rPr>
              <a:t>  </a:t>
            </a:r>
            <a:r>
              <a:rPr b="1" lang="en">
                <a:solidFill>
                  <a:srgbClr val="292929"/>
                </a:solidFill>
                <a:latin typeface="Calibri"/>
                <a:ea typeface="Calibri"/>
                <a:cs typeface="Calibri"/>
                <a:sym typeface="Calibri"/>
              </a:rPr>
              <a:t>B. Allows Express to read JSON data from the request body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8" name="Google Shape;438;p37"/>
          <p:cNvGrpSpPr/>
          <p:nvPr/>
        </p:nvGrpSpPr>
        <p:grpSpPr>
          <a:xfrm>
            <a:off x="310900" y="3959263"/>
            <a:ext cx="6005825" cy="895813"/>
            <a:chOff x="310900" y="3959263"/>
            <a:chExt cx="6005825" cy="895813"/>
          </a:xfrm>
        </p:grpSpPr>
        <p:sp>
          <p:nvSpPr>
            <p:cNvPr id="439" name="Google Shape;439;p3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40" name="Google Shape;440;p37"/>
            <p:cNvSpPr txBox="1"/>
            <p:nvPr/>
          </p:nvSpPr>
          <p:spPr>
            <a:xfrm>
              <a:off x="1607925" y="3959275"/>
              <a:ext cx="47088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92929"/>
                </a:buClr>
                <a:buSzPts val="900"/>
                <a:buFont typeface="Calibri"/>
                <a:buNone/>
              </a:pPr>
              <a:r>
                <a:rPr lang="en">
                  <a:solidFill>
                    <a:srgbClr val="292929"/>
                  </a:solidFill>
                  <a:latin typeface="Calibri"/>
                  <a:ea typeface="Calibri"/>
                  <a:cs typeface="Calibri"/>
                  <a:sym typeface="Calibri"/>
                </a:rPr>
                <a:t>Without this middleware, req.body remains undefined, so POST and PUT requests cannot access the data sent from Postman.</a:t>
              </a:r>
              <a:endPara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8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9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54" name="Google Shape;454;p39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456" name="Google Shape;456;p39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57" name="Google Shape;457;p39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58" name="Google Shape;458;p39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39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60" name="Google Shape;460;p39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9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39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39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