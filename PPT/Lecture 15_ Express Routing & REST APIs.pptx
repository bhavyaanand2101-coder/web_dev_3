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oboto Slab"/>
      <p:regular r:id="rId26"/>
      <p:bold r:id="rId27"/>
    </p:embeddedFont>
    <p:embeddedFont>
      <p:font typeface="Poppi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2C3908-8D3D-431F-AA41-539F6E6DB75E}">
  <a:tblStyle styleId="{8E2C3908-8D3D-431F-AA41-539F6E6DB75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Slab-regular.fntdata"/><Relationship Id="rId25" Type="http://schemas.openxmlformats.org/officeDocument/2006/relationships/slide" Target="slides/slide19.xml"/><Relationship Id="rId28" Type="http://schemas.openxmlformats.org/officeDocument/2006/relationships/font" Target="fonts/Poppins-regular.fntdata"/><Relationship Id="rId27" Type="http://schemas.openxmlformats.org/officeDocument/2006/relationships/font" Target="fonts/RobotoSlab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405620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40562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9405620a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9405620a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9405620a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9405620a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8280f7358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8280f7358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8280f735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8280f735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9405620a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9405620a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8280f735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8280f735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8280f735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8280f735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8280f735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8280f735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280f735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8280f735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280f735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8280f735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8280f7358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8280f735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8280f7358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8280f7358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8280f735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8280f735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9405620a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9405620a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8280f7358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8280f7358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8280f735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8280f735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4d36f26e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4d36f26e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4d36f26e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4d36f26e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hyperlink" Target="https://developer.mozilla.org/en-US/docs/Learn_web_development/Extensions/Server-side/Express_Nodejs" TargetMode="External"/><Relationship Id="rId5" Type="http://schemas.openxmlformats.org/officeDocument/2006/relationships/hyperlink" Target="https://www.w3schools.com/nodejs/nodejs_express.asp" TargetMode="External"/><Relationship Id="rId6" Type="http://schemas.openxmlformats.org/officeDocument/2006/relationships/hyperlink" Target="https://expressjs.com/en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4" name="Google Shape;64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5" name="Google Shape;65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15</a:t>
              </a:r>
              <a:r>
                <a:rPr lang="en" sz="2700">
                  <a:solidFill>
                    <a:schemeClr val="lt1"/>
                  </a:solidFill>
                </a:rPr>
                <a:t>:</a:t>
              </a:r>
              <a:endParaRPr sz="2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6" name="Google Shape;66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90272" y="2145213"/>
              <a:ext cx="4593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700">
                  <a:solidFill>
                    <a:schemeClr val="lt1"/>
                  </a:solidFill>
                </a:rPr>
                <a:t>Express Routing &amp; REST APIs</a:t>
              </a:r>
              <a:r>
                <a:rPr b="1" lang="en" sz="1800">
                  <a:solidFill>
                    <a:schemeClr val="lt1"/>
                  </a:solidFill>
                </a:rPr>
                <a:t> </a:t>
              </a:r>
              <a:endParaRPr b="1" sz="3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Pratik Raj Verma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69" name="Google Shape;6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0125" y="3941879"/>
            <a:ext cx="548701" cy="3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6925" y="3941876"/>
            <a:ext cx="379415" cy="3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 title="Programming-bro.png"/>
          <p:cNvPicPr preferRelativeResize="0"/>
          <p:nvPr/>
        </p:nvPicPr>
        <p:blipFill rotWithShape="1">
          <a:blip r:embed="rId9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Routing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REST APIs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Modular Routing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 this lecture, we will learn how to call controller functions through different routes and understand how Express forwards requests to the appropriate controller.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By the end of this session, you will be able to create routes, connect them with controllers, and build a structured REST API using the MVC pattern.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6" name="Google Shape;86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1400" y="2156050"/>
            <a:ext cx="2681200" cy="258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wondered: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How does Instagram know which page to open? How does Amazon show products? How does YouTube open a specific video?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When a user sends a request, how does the server know which function should run?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5" name="Google Shape;95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" name="Google Shape;97;p16" title="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1050" y="2649551"/>
            <a:ext cx="2713750" cy="21831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wondered: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How does Instagram know which page to open? How does Amazon show products? How does YouTube open a specific video?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When a user sends a request, how does the server know which function should run?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" name="Google Shape;104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649775" y="2222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 answer is: </a:t>
            </a:r>
            <a:r>
              <a:rPr b="1" lang="en" sz="1600">
                <a:solidFill>
                  <a:schemeClr val="dk1"/>
                </a:solidFill>
              </a:rPr>
              <a:t>Routing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9950" y="1584675"/>
            <a:ext cx="4027350" cy="32230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Routing?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3" name="Google Shape;113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574525" y="1011575"/>
            <a:ext cx="62994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Routing is the process of defining how an application responds to client requests for specific URLs and HTTP methods.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Routing decides: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Which URL was requested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Which controller should run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What response should be returned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525" y="3329725"/>
            <a:ext cx="344805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5266650" y="3343825"/>
            <a:ext cx="2804400" cy="13053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Request: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GET /students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Response: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All Students</a:t>
            </a:r>
            <a:endParaRPr sz="1300"/>
          </a:p>
        </p:txBody>
      </p:sp>
      <p:sp>
        <p:nvSpPr>
          <p:cNvPr id="118" name="Google Shape;118;p18"/>
          <p:cNvSpPr txBox="1"/>
          <p:nvPr/>
        </p:nvSpPr>
        <p:spPr>
          <a:xfrm>
            <a:off x="617525" y="2831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First Route Example</a:t>
            </a:r>
            <a:r>
              <a:rPr lang="en"/>
              <a:t> 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Routing?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" name="Google Shape;124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311700" y="9097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What is an API Endpoint? </a:t>
            </a:r>
            <a:endParaRPr b="1" sz="1100"/>
          </a:p>
        </p:txBody>
      </p:sp>
      <p:sp>
        <p:nvSpPr>
          <p:cNvPr id="127" name="Google Shape;127;p19"/>
          <p:cNvSpPr txBox="1"/>
          <p:nvPr/>
        </p:nvSpPr>
        <p:spPr>
          <a:xfrm>
            <a:off x="369350" y="12637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An API Endpoint is a URL where a client sends requests. </a:t>
            </a:r>
            <a:endParaRPr sz="1100"/>
          </a:p>
        </p:txBody>
      </p:sp>
      <p:sp>
        <p:nvSpPr>
          <p:cNvPr id="128" name="Google Shape;128;p19"/>
          <p:cNvSpPr txBox="1"/>
          <p:nvPr/>
        </p:nvSpPr>
        <p:spPr>
          <a:xfrm>
            <a:off x="444575" y="1921975"/>
            <a:ext cx="5150400" cy="15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Examples: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/students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/teachers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/courses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/users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Each endpoint performs a specific task.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Routing?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4" name="Google Shape;134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0"/>
          <p:cNvSpPr txBox="1"/>
          <p:nvPr/>
        </p:nvSpPr>
        <p:spPr>
          <a:xfrm>
            <a:off x="311700" y="8481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What is a </a:t>
            </a:r>
            <a:r>
              <a:rPr b="1" lang="en" sz="1100"/>
              <a:t>REST API</a:t>
            </a:r>
            <a:r>
              <a:rPr b="1" lang="en" sz="1100"/>
              <a:t>? </a:t>
            </a:r>
            <a:endParaRPr b="1" sz="1100"/>
          </a:p>
        </p:txBody>
      </p:sp>
      <p:sp>
        <p:nvSpPr>
          <p:cNvPr id="137" name="Google Shape;137;p20"/>
          <p:cNvSpPr txBox="1"/>
          <p:nvPr/>
        </p:nvSpPr>
        <p:spPr>
          <a:xfrm>
            <a:off x="403525" y="1149075"/>
            <a:ext cx="5841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 REST API (Representational State Transfer Application Programming Interface) is an API that follows</a:t>
            </a:r>
            <a:r>
              <a:rPr b="1" lang="en" sz="1100"/>
              <a:t> REST architectural principles</a:t>
            </a:r>
            <a:r>
              <a:rPr lang="en" sz="1100"/>
              <a:t> and enables communication between a client and a server using HTTP methods such as GET, POST, PUT, and DELETE to perform operations on resources. </a:t>
            </a:r>
            <a:endParaRPr sz="1100"/>
          </a:p>
        </p:txBody>
      </p:sp>
      <p:sp>
        <p:nvSpPr>
          <p:cNvPr id="138" name="Google Shape;138;p20"/>
          <p:cNvSpPr txBox="1"/>
          <p:nvPr/>
        </p:nvSpPr>
        <p:spPr>
          <a:xfrm>
            <a:off x="465100" y="2298150"/>
            <a:ext cx="30000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REST APIs use: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Resources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HTTP Methods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Meaningful URLs</a:t>
            </a:r>
            <a:endParaRPr sz="1100"/>
          </a:p>
        </p:txBody>
      </p:sp>
      <p:sp>
        <p:nvSpPr>
          <p:cNvPr id="139" name="Google Shape;139;p20"/>
          <p:cNvSpPr txBox="1"/>
          <p:nvPr/>
        </p:nvSpPr>
        <p:spPr>
          <a:xfrm>
            <a:off x="4247500" y="2298150"/>
            <a:ext cx="2188800" cy="1369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REST APIs should:</a:t>
            </a:r>
            <a:endParaRPr b="1"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Use resources as URLs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Use HTTP methods properly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Follow naming conventions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Be easy to understand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Be easy to maintain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Routing?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5" name="Google Shape;145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1"/>
          <p:cNvSpPr txBox="1"/>
          <p:nvPr/>
        </p:nvSpPr>
        <p:spPr>
          <a:xfrm>
            <a:off x="396700" y="8413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Resource Based Routing </a:t>
            </a:r>
            <a:endParaRPr b="1" sz="1100"/>
          </a:p>
        </p:txBody>
      </p:sp>
      <p:sp>
        <p:nvSpPr>
          <p:cNvPr id="148" name="Google Shape;148;p21"/>
          <p:cNvSpPr txBox="1"/>
          <p:nvPr/>
        </p:nvSpPr>
        <p:spPr>
          <a:xfrm>
            <a:off x="396700" y="1333775"/>
            <a:ext cx="4240800" cy="30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100"/>
              <a:t>Good:</a:t>
            </a:r>
            <a:endParaRPr b="1" sz="11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/students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/teachers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/products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100"/>
              <a:t>Bad:</a:t>
            </a:r>
            <a:endParaRPr b="1" sz="11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/getStudents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/createStudent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/deleteStudent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Resource should represent data, not action. </a:t>
            </a:r>
            <a:r>
              <a:rPr lang="en" sz="1100">
                <a:solidFill>
                  <a:schemeClr val="dk1"/>
                </a:solidFill>
              </a:rPr>
              <a:t>REST focuses on </a:t>
            </a:r>
            <a:r>
              <a:rPr b="1" lang="en" sz="1100">
                <a:solidFill>
                  <a:schemeClr val="dk1"/>
                </a:solidFill>
              </a:rPr>
              <a:t>nouns (resources)</a:t>
            </a:r>
            <a:r>
              <a:rPr lang="en" sz="1100">
                <a:solidFill>
                  <a:schemeClr val="dk1"/>
                </a:solidFill>
              </a:rPr>
              <a:t> rather than </a:t>
            </a:r>
            <a:r>
              <a:rPr b="1" lang="en" sz="1100">
                <a:solidFill>
                  <a:schemeClr val="dk1"/>
                </a:solidFill>
              </a:rPr>
              <a:t>verbs (actions)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Routing?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4" name="Google Shape;154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410375" y="8686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Understanding HTTP Methods </a:t>
            </a:r>
            <a:endParaRPr b="1" sz="1100"/>
          </a:p>
        </p:txBody>
      </p:sp>
      <p:graphicFrame>
        <p:nvGraphicFramePr>
          <p:cNvPr id="157" name="Google Shape;157;p22"/>
          <p:cNvGraphicFramePr/>
          <p:nvPr/>
        </p:nvGraphicFramePr>
        <p:xfrm>
          <a:off x="471950" y="2217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{8E2C3908-8D3D-431F-AA41-539F6E6DB75E}</a:tableStyleId>
              </a:tblPr>
              <a:tblGrid>
                <a:gridCol w="1282450"/>
                <a:gridCol w="1485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Method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Purpose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GET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Retrieve Data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POST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Create Data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PUT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Update Data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DELETE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Remove Data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22"/>
          <p:cNvSpPr txBox="1"/>
          <p:nvPr/>
        </p:nvSpPr>
        <p:spPr>
          <a:xfrm>
            <a:off x="471950" y="13474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 Methods tell the server what action should be performed. </a:t>
            </a:r>
            <a:endParaRPr sz="1200"/>
          </a:p>
        </p:txBody>
      </p:sp>
      <p:sp>
        <p:nvSpPr>
          <p:cNvPr id="159" name="Google Shape;159;p22"/>
          <p:cNvSpPr txBox="1"/>
          <p:nvPr/>
        </p:nvSpPr>
        <p:spPr>
          <a:xfrm>
            <a:off x="5047750" y="117286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CRUD vs HTTP Methods </a:t>
            </a:r>
            <a:endParaRPr b="1" sz="1100"/>
          </a:p>
        </p:txBody>
      </p:sp>
      <p:graphicFrame>
        <p:nvGraphicFramePr>
          <p:cNvPr id="160" name="Google Shape;160;p22"/>
          <p:cNvGraphicFramePr/>
          <p:nvPr/>
        </p:nvGraphicFramePr>
        <p:xfrm>
          <a:off x="5047750" y="2351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{8E2C3908-8D3D-431F-AA41-539F6E6DB75E}</a:tableStyleId>
              </a:tblPr>
              <a:tblGrid>
                <a:gridCol w="1324650"/>
                <a:gridCol w="14428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CRUD Operation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HTTP Method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Create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POST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Read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GET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Update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PUT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Delete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DELETE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22"/>
          <p:cNvSpPr txBox="1"/>
          <p:nvPr/>
        </p:nvSpPr>
        <p:spPr>
          <a:xfrm>
            <a:off x="5006725" y="1562638"/>
            <a:ext cx="3000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This mapping is used in almost every REST API.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Routing?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23"/>
          <p:cNvSpPr txBox="1"/>
          <p:nvPr/>
        </p:nvSpPr>
        <p:spPr>
          <a:xfrm>
            <a:off x="383025" y="1270525"/>
            <a:ext cx="332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Static Routes</a:t>
            </a:r>
            <a:r>
              <a:rPr lang="en" sz="1100"/>
              <a:t> : </a:t>
            </a:r>
            <a:r>
              <a:rPr lang="en" sz="1100"/>
              <a:t>Static routes have fixed URLs. </a:t>
            </a:r>
            <a:endParaRPr sz="1100"/>
          </a:p>
        </p:txBody>
      </p:sp>
      <p:pic>
        <p:nvPicPr>
          <p:cNvPr id="170" name="Google Shape;170;p23"/>
          <p:cNvPicPr preferRelativeResize="0"/>
          <p:nvPr/>
        </p:nvPicPr>
        <p:blipFill rotWithShape="1">
          <a:blip r:embed="rId4">
            <a:alphaModFix/>
          </a:blip>
          <a:srcRect b="0" l="-1700" r="1700" t="0"/>
          <a:stretch/>
        </p:blipFill>
        <p:spPr>
          <a:xfrm>
            <a:off x="444575" y="2365125"/>
            <a:ext cx="28194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/>
        </p:nvSpPr>
        <p:spPr>
          <a:xfrm>
            <a:off x="487550" y="1705813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Examples:</a:t>
            </a:r>
            <a:r>
              <a:rPr lang="en" sz="1200"/>
              <a:t>  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/about </a:t>
            </a:r>
            <a:endParaRPr/>
          </a:p>
        </p:txBody>
      </p:sp>
      <p:sp>
        <p:nvSpPr>
          <p:cNvPr id="172" name="Google Shape;172;p23"/>
          <p:cNvSpPr txBox="1"/>
          <p:nvPr/>
        </p:nvSpPr>
        <p:spPr>
          <a:xfrm>
            <a:off x="5061400" y="1270525"/>
            <a:ext cx="346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Dynamic Routes :</a:t>
            </a:r>
            <a:r>
              <a:rPr lang="en" sz="1100">
                <a:solidFill>
                  <a:schemeClr val="dk1"/>
                </a:solidFill>
              </a:rPr>
              <a:t>Dynamic routes contain variable values.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5122975" y="1819225"/>
            <a:ext cx="30000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Examples: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/students/1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/students/10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/students/100</a:t>
            </a:r>
            <a:endParaRPr sz="1100"/>
          </a:p>
        </p:txBody>
      </p:sp>
      <p:pic>
        <p:nvPicPr>
          <p:cNvPr id="174" name="Google Shape;17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1724" y="2919925"/>
            <a:ext cx="3000000" cy="1075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Modular Routing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0" name="Google Shape;180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24"/>
          <p:cNvSpPr txBox="1"/>
          <p:nvPr/>
        </p:nvSpPr>
        <p:spPr>
          <a:xfrm>
            <a:off x="506150" y="1011575"/>
            <a:ext cx="4952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Modular Routing</a:t>
            </a:r>
            <a:r>
              <a:rPr lang="en" sz="1100">
                <a:solidFill>
                  <a:schemeClr val="dk1"/>
                </a:solidFill>
              </a:rPr>
              <a:t> is a technique in Express.js where application routes are organized into separate files or modules based on their functionality.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5200" y="2088875"/>
            <a:ext cx="5946501" cy="2076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4" name="Google Shape;184;p24"/>
          <p:cNvSpPr txBox="1"/>
          <p:nvPr/>
        </p:nvSpPr>
        <p:spPr>
          <a:xfrm>
            <a:off x="506150" y="1812550"/>
            <a:ext cx="3000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project/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│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├──</a:t>
            </a:r>
            <a:r>
              <a:rPr b="1" lang="en" sz="1100"/>
              <a:t> routes/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│   ├──  studentRoutes.js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│   ├──  teacherRoutes.js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│   └──  courseRoutes.js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│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├── </a:t>
            </a:r>
            <a:r>
              <a:rPr b="1" lang="en" sz="1100"/>
              <a:t>controllers/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├── </a:t>
            </a:r>
            <a:r>
              <a:rPr b="1" lang="en" sz="1100"/>
              <a:t>models/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└──</a:t>
            </a:r>
            <a:r>
              <a:rPr b="1" lang="en" sz="1100"/>
              <a:t> server.js</a:t>
            </a:r>
            <a:endParaRPr b="1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073763"/>
                </a:solidFill>
              </a:rPr>
              <a:t>In the last lecture, we learned how to define and organize application logic inside Controllers following the MVC architecture.</a:t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073763"/>
                </a:solidFill>
              </a:rPr>
              <a:t>Now that our controllers are ready, the next step is to connect them with Routes so that they can handle incoming client requests</a:t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1" name="Google Shape;191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3" name="Google Shape;193;p25" title="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1050" y="2512751"/>
            <a:ext cx="2713750" cy="21831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Routing?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9" name="Google Shape;199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6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02" name="Google Shape;20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500" y="897325"/>
            <a:ext cx="3857618" cy="40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8" name="Google Shape;208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the primary purpose of Routing in Express.js?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310900" y="1748350"/>
            <a:ext cx="80847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Store data in database</a:t>
            </a: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	  B. Define how the server responds to specific URLs and HTTP methods</a:t>
            </a: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	  C. Create frontend pages</a:t>
            </a: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	   D. Install Express.js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1" name="Google Shape;211;p2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27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1100">
                <a:solidFill>
                  <a:schemeClr val="dk1"/>
                </a:solidFill>
              </a:rPr>
              <a:t>B. Define how the server responds to specific URLs and HTTP methods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4" name="Google Shape;214;p27"/>
          <p:cNvGrpSpPr/>
          <p:nvPr/>
        </p:nvGrpSpPr>
        <p:grpSpPr>
          <a:xfrm>
            <a:off x="310900" y="3959263"/>
            <a:ext cx="6005825" cy="1364413"/>
            <a:chOff x="310900" y="3959263"/>
            <a:chExt cx="6005825" cy="1364413"/>
          </a:xfrm>
        </p:grpSpPr>
        <p:sp>
          <p:nvSpPr>
            <p:cNvPr id="215" name="Google Shape;215;p27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16" name="Google Shape;216;p27"/>
            <p:cNvSpPr txBox="1"/>
            <p:nvPr/>
          </p:nvSpPr>
          <p:spPr>
            <a:xfrm>
              <a:off x="1607925" y="3959275"/>
              <a:ext cx="4708800" cy="136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Routing decides: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Which URL was requested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Which controller should execute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What response should be returned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2" name="Google Shape;222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HTTP Method is used to update existing data in a REST API?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GET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POST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PUT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DELETE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5" name="Google Shape;225;p2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28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C. PUT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28" name="Google Shape;228;p28"/>
          <p:cNvGrpSpPr/>
          <p:nvPr/>
        </p:nvGrpSpPr>
        <p:grpSpPr>
          <a:xfrm>
            <a:off x="310900" y="3959263"/>
            <a:ext cx="6005825" cy="400200"/>
            <a:chOff x="310900" y="3959263"/>
            <a:chExt cx="6005825" cy="400200"/>
          </a:xfrm>
        </p:grpSpPr>
        <p:sp>
          <p:nvSpPr>
            <p:cNvPr id="229" name="Google Shape;229;p28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30" name="Google Shape;230;p28"/>
            <p:cNvSpPr txBox="1"/>
            <p:nvPr/>
          </p:nvSpPr>
          <p:spPr>
            <a:xfrm>
              <a:off x="1607925" y="3959275"/>
              <a:ext cx="4708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PUT is used to update existing records. 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6" name="Google Shape;236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9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What is the difference between Static Routes and Dynamic Routes?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" name="Google Shape;238;p29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Static routes use variables, Dynamic routes do not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Static routes have fixed URLs, Dynamic routes contain variable values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Both are exactly the same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Dynamic routes are used only with POST requests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9" name="Google Shape;239;p2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29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B. Static routes have fixed URLs, Dynamic routes contain variable values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42" name="Google Shape;242;p29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243" name="Google Shape;243;p29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44" name="Google Shape;244;p29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 Static Route is a route with a fixed URL that remains the same for every request. A Dynamic Route is a route that contains variable values inside the URL. 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0" name="Google Shape;250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0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Express Js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https://developer.mozilla.org/en-US/docs/Learn_web_development/Extensions/Server-side/Express_Nodejs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express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https://www.w3schools.com/nodejs/nodejs_express.asp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Express Official-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Express JS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https://expressjs.com/en/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31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88813" y="38601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258" name="Google Shape;258;p31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1"/>
          <p:cNvSpPr txBox="1"/>
          <p:nvPr/>
        </p:nvSpPr>
        <p:spPr>
          <a:xfrm>
            <a:off x="4281700" y="2020825"/>
            <a:ext cx="47619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260" name="Google Shape;260;p31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261" name="Google Shape;261;p31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262" name="Google Shape;262;p31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3" name="Google Shape;263;p31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264" name="Google Shape;264;p31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1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31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7" name="Google Shape;267;p31" title="Programming-bro.png"/>
          <p:cNvPicPr preferRelativeResize="0"/>
          <p:nvPr/>
        </p:nvPicPr>
        <p:blipFill rotWithShape="1">
          <a:blip r:embed="rId7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